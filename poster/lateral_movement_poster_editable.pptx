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3716000" cy="25877520"/>
  <p:notesSz cx="25877520" cy="13716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svg"/><Relationship Id="rId3" Type="http://schemas.openxmlformats.org/officeDocument/2006/relationships/image" Target="../media/image-1-3.png"/><Relationship Id="rId4" Type="http://schemas.openxmlformats.org/officeDocument/2006/relationships/image" Target="../media/image-1-4.svg"/><Relationship Id="rId5" Type="http://schemas.openxmlformats.org/officeDocument/2006/relationships/image" Target="../media/image-1-5.png"/><Relationship Id="rId6" Type="http://schemas.openxmlformats.org/officeDocument/2006/relationships/image" Target="../media/image-1-6.svg"/><Relationship Id="rId7" Type="http://schemas.openxmlformats.org/officeDocument/2006/relationships/image" Target="../media/image-1-7.png"/><Relationship Id="rId8" Type="http://schemas.openxmlformats.org/officeDocument/2006/relationships/image" Target="../media/image-1-8.svg"/><Relationship Id="rId9" Type="http://schemas.openxmlformats.org/officeDocument/2006/relationships/image" Target="../media/image-1-9.png"/><Relationship Id="rId10" Type="http://schemas.openxmlformats.org/officeDocument/2006/relationships/image" Target="../media/image-1-10.svg"/><Relationship Id="rId11" Type="http://schemas.openxmlformats.org/officeDocument/2006/relationships/image" Target="../media/image-1-11.png"/><Relationship Id="rId12" Type="http://schemas.openxmlformats.org/officeDocument/2006/relationships/image" Target="../media/image-1-12.svg"/><Relationship Id="rId13" Type="http://schemas.openxmlformats.org/officeDocument/2006/relationships/image" Target="../media/image-1-13.png"/><Relationship Id="rId14" Type="http://schemas.openxmlformats.org/officeDocument/2006/relationships/image" Target="../media/image-1-14.svg"/><Relationship Id="rId15" Type="http://schemas.openxmlformats.org/officeDocument/2006/relationships/image" Target="../media/image-1-15.png"/><Relationship Id="rId16" Type="http://schemas.openxmlformats.org/officeDocument/2006/relationships/image" Target="../media/image-1-16.svg"/><Relationship Id="rId17" Type="http://schemas.openxmlformats.org/officeDocument/2006/relationships/image" Target="../media/image-1-17.png"/><Relationship Id="rId18" Type="http://schemas.openxmlformats.org/officeDocument/2006/relationships/image" Target="../media/image-1-18.svg"/><Relationship Id="rId19" Type="http://schemas.openxmlformats.org/officeDocument/2006/relationships/image" Target="../media/image-1-19.png"/><Relationship Id="rId20" Type="http://schemas.openxmlformats.org/officeDocument/2006/relationships/image" Target="../media/image-1-20.svg"/><Relationship Id="rId21" Type="http://schemas.openxmlformats.org/officeDocument/2006/relationships/image" Target="../media/image-1-21.png"/><Relationship Id="rId22" Type="http://schemas.openxmlformats.org/officeDocument/2006/relationships/image" Target="../media/image-1-22.svg"/><Relationship Id="rId23" Type="http://schemas.openxmlformats.org/officeDocument/2006/relationships/image" Target="../media/image-1-23.png"/><Relationship Id="rId24" Type="http://schemas.openxmlformats.org/officeDocument/2006/relationships/image" Target="../media/image-1-24.svg"/><Relationship Id="rId25" Type="http://schemas.openxmlformats.org/officeDocument/2006/relationships/image" Target="../media/image-1-25.png"/><Relationship Id="rId26" Type="http://schemas.openxmlformats.org/officeDocument/2006/relationships/image" Target="../media/image-1-26.svg"/><Relationship Id="rId27" Type="http://schemas.openxmlformats.org/officeDocument/2006/relationships/image" Target="../media/image-1-27.png"/><Relationship Id="rId28" Type="http://schemas.openxmlformats.org/officeDocument/2006/relationships/image" Target="../media/image-1-28.svg"/><Relationship Id="rId29" Type="http://schemas.openxmlformats.org/officeDocument/2006/relationships/image" Target="../media/image-1-29.png"/><Relationship Id="rId30" Type="http://schemas.openxmlformats.org/officeDocument/2006/relationships/image" Target="../media/image-1-30.svg"/><Relationship Id="rId31" Type="http://schemas.openxmlformats.org/officeDocument/2006/relationships/image" Target="../media/image-1-31.png"/><Relationship Id="rId32" Type="http://schemas.openxmlformats.org/officeDocument/2006/relationships/image" Target="../media/image-1-32.svg"/><Relationship Id="rId33" Type="http://schemas.openxmlformats.org/officeDocument/2006/relationships/image" Target="../media/image-1-33.png"/><Relationship Id="rId34" Type="http://schemas.openxmlformats.org/officeDocument/2006/relationships/image" Target="../media/image-1-34.svg"/><Relationship Id="rId35" Type="http://schemas.openxmlformats.org/officeDocument/2006/relationships/image" Target="../media/image-1-35.png"/><Relationship Id="rId36" Type="http://schemas.openxmlformats.org/officeDocument/2006/relationships/image" Target="../media/image-1-36.svg"/><Relationship Id="rId37" Type="http://schemas.openxmlformats.org/officeDocument/2006/relationships/image" Target="../media/image-1-37.png"/><Relationship Id="rId38" Type="http://schemas.openxmlformats.org/officeDocument/2006/relationships/image" Target="../media/image-1-38.png"/><Relationship Id="rId39" Type="http://schemas.openxmlformats.org/officeDocument/2006/relationships/image" Target="../media/image-1-39.png"/><Relationship Id="rId40" Type="http://schemas.openxmlformats.org/officeDocument/2006/relationships/image" Target="../media/image-1-40.svg"/><Relationship Id="rId41" Type="http://schemas.openxmlformats.org/officeDocument/2006/relationships/image" Target="../media/image-1-41.png"/><Relationship Id="rId42" Type="http://schemas.openxmlformats.org/officeDocument/2006/relationships/image" Target="../media/image-1-42.svg"/><Relationship Id="rId43" Type="http://schemas.openxmlformats.org/officeDocument/2006/relationships/image" Target="../media/image-1-43.png"/><Relationship Id="rId44" Type="http://schemas.openxmlformats.org/officeDocument/2006/relationships/image" Target="../media/image-1-44.svg"/><Relationship Id="rId45" Type="http://schemas.openxmlformats.org/officeDocument/2006/relationships/image" Target="../media/image-1-45.png"/><Relationship Id="rId46" Type="http://schemas.openxmlformats.org/officeDocument/2006/relationships/image" Target="../media/image-1-46.svg"/><Relationship Id="rId47" Type="http://schemas.openxmlformats.org/officeDocument/2006/relationships/image" Target="../media/image-1-47.png"/><Relationship Id="rId48" Type="http://schemas.openxmlformats.org/officeDocument/2006/relationships/image" Target="../media/image-1-48.svg"/><Relationship Id="rId49" Type="http://schemas.openxmlformats.org/officeDocument/2006/relationships/image" Target="../media/image-1-49.png"/><Relationship Id="rId50" Type="http://schemas.openxmlformats.org/officeDocument/2006/relationships/image" Target="../media/image-1-50.svg"/><Relationship Id="rId51" Type="http://schemas.openxmlformats.org/officeDocument/2006/relationships/slideLayout" Target="../slideLayouts/slideLayout1.xml"/><Relationship Id="rId5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D3A67"/>
        </a:solidFill>
      </p:bgPr>
    </p:bg>
    <p:spTree>
      <p:nvGrpSpPr>
        <p:cNvPr id="1" name=""/>
        <p:cNvGrpSpPr/>
        <p:nvPr/>
      </p:nvGrpSpPr>
      <p:grpSpPr>
        <a:xfrm>
          <a:off x="0" y="0"/>
          <a:ext cx="0" cy="0"/>
          <a:chOff x="0" y="0"/>
          <a:chExt cx="0" cy="0"/>
        </a:xfrm>
      </p:grpSpPr>
      <p:sp>
        <p:nvSpPr>
          <p:cNvPr id="2" name="Text 0"/>
          <p:cNvSpPr/>
          <p:nvPr/>
        </p:nvSpPr>
        <p:spPr>
          <a:xfrm>
            <a:off x="1234440" y="256032"/>
            <a:ext cx="11247120" cy="859536"/>
          </a:xfrm>
          <a:prstGeom prst="rect">
            <a:avLst/>
          </a:prstGeom>
          <a:noFill/>
          <a:ln/>
        </p:spPr>
        <p:txBody>
          <a:bodyPr wrap="square" lIns="0" tIns="0" rIns="0" bIns="0" rtlCol="0" anchor="ctr">
            <a:normAutofit/>
          </a:bodyPr>
          <a:lstStyle/>
          <a:p>
            <a:pPr algn="ctr" indent="0" marL="0">
              <a:buNone/>
            </a:pPr>
            <a:r>
              <a:rPr lang="en-US" sz="2800" b="1" dirty="0">
                <a:solidFill>
                  <a:srgbClr val="FFFFFF"/>
                </a:solidFill>
                <a:latin typeface="Liberation Sans" pitchFamily="34" charset="0"/>
                <a:ea typeface="Liberation Sans" pitchFamily="34" charset="-122"/>
                <a:cs typeface="Liberation Sans" pitchFamily="34" charset="-120"/>
              </a:rPr>
              <a:t>Detecting Post-Compromise Lateral Movement</a:t>
            </a:r>
            <a:endParaRPr lang="en-US" sz="2800" dirty="0"/>
          </a:p>
          <a:p>
            <a:pPr algn="ctr" indent="0" marL="0">
              <a:buNone/>
            </a:pPr>
            <a:r>
              <a:rPr lang="en-US" sz="2800" b="1" dirty="0">
                <a:solidFill>
                  <a:srgbClr val="FFFFFF"/>
                </a:solidFill>
                <a:latin typeface="Liberation Sans" pitchFamily="34" charset="0"/>
                <a:ea typeface="Liberation Sans" pitchFamily="34" charset="-122"/>
                <a:cs typeface="Liberation Sans" pitchFamily="34" charset="-120"/>
              </a:rPr>
              <a:t>Using Authentication Logs</a:t>
            </a:r>
            <a:endParaRPr lang="en-US" sz="2800" dirty="0"/>
          </a:p>
        </p:txBody>
      </p:sp>
      <p:sp>
        <p:nvSpPr>
          <p:cNvPr id="3" name="Text 1"/>
          <p:cNvSpPr/>
          <p:nvPr/>
        </p:nvSpPr>
        <p:spPr>
          <a:xfrm>
            <a:off x="1828800" y="1252728"/>
            <a:ext cx="10058400" cy="237744"/>
          </a:xfrm>
          <a:prstGeom prst="rect">
            <a:avLst/>
          </a:prstGeom>
          <a:noFill/>
          <a:ln/>
        </p:spPr>
        <p:txBody>
          <a:bodyPr wrap="square" lIns="0" tIns="0" rIns="0" bIns="0" rtlCol="0" anchor="ctr"/>
          <a:lstStyle/>
          <a:p>
            <a:pPr algn="ctr" indent="0" marL="0">
              <a:buNone/>
            </a:pPr>
            <a:r>
              <a:rPr lang="en-US" sz="1150" i="1" dirty="0">
                <a:solidFill>
                  <a:srgbClr val="D9E6F5"/>
                </a:solidFill>
                <a:latin typeface="Liberation Sans" pitchFamily="34" charset="0"/>
                <a:ea typeface="Liberation Sans" pitchFamily="34" charset="-122"/>
                <a:cs typeface="Liberation Sans" pitchFamily="34" charset="-120"/>
              </a:rPr>
              <a:t>A Graph-Based Anomaly Detection Framework - Independent Synthetic Benchmark</a:t>
            </a:r>
            <a:endParaRPr lang="en-US" sz="1150" dirty="0"/>
          </a:p>
        </p:txBody>
      </p:sp>
      <p:sp>
        <p:nvSpPr>
          <p:cNvPr id="4" name="Text 2"/>
          <p:cNvSpPr/>
          <p:nvPr/>
        </p:nvSpPr>
        <p:spPr>
          <a:xfrm>
            <a:off x="5303520" y="1627632"/>
            <a:ext cx="3108960" cy="228600"/>
          </a:xfrm>
          <a:prstGeom prst="rect">
            <a:avLst/>
          </a:prstGeom>
          <a:noFill/>
          <a:ln/>
        </p:spPr>
        <p:txBody>
          <a:bodyPr wrap="square" lIns="0" tIns="0" rIns="0" bIns="0" rtlCol="0" anchor="ctr"/>
          <a:lstStyle/>
          <a:p>
            <a:pPr algn="ctr" indent="0" marL="0">
              <a:buNone/>
            </a:pPr>
            <a:r>
              <a:rPr lang="en-US" sz="1180" b="1" dirty="0">
                <a:solidFill>
                  <a:srgbClr val="FFFFFF"/>
                </a:solidFill>
                <a:latin typeface="Liberation Sans" pitchFamily="34" charset="0"/>
                <a:ea typeface="Liberation Sans" pitchFamily="34" charset="-122"/>
                <a:cs typeface="Liberation Sans" pitchFamily="34" charset="-120"/>
              </a:rPr>
              <a:t>Daniel Peng</a:t>
            </a:r>
            <a:endParaRPr lang="en-US" sz="1180" dirty="0"/>
          </a:p>
        </p:txBody>
      </p:sp>
      <p:sp>
        <p:nvSpPr>
          <p:cNvPr id="5" name="Text 3"/>
          <p:cNvSpPr/>
          <p:nvPr/>
        </p:nvSpPr>
        <p:spPr>
          <a:xfrm>
            <a:off x="4389120" y="1901952"/>
            <a:ext cx="4937760" cy="201168"/>
          </a:xfrm>
          <a:prstGeom prst="rect">
            <a:avLst/>
          </a:prstGeom>
          <a:noFill/>
          <a:ln/>
        </p:spPr>
        <p:txBody>
          <a:bodyPr wrap="square" lIns="0" tIns="0" rIns="0" bIns="0" rtlCol="0" anchor="ctr"/>
          <a:lstStyle/>
          <a:p>
            <a:pPr algn="ctr" indent="0" marL="0">
              <a:buNone/>
            </a:pPr>
            <a:r>
              <a:rPr lang="en-US" sz="950" i="1" dirty="0">
                <a:solidFill>
                  <a:srgbClr val="D9E6F5"/>
                </a:solidFill>
                <a:latin typeface="Liberation Sans" pitchFamily="34" charset="0"/>
                <a:ea typeface="Liberation Sans" pitchFamily="34" charset="-122"/>
                <a:cs typeface="Liberation Sans" pitchFamily="34" charset="-120"/>
              </a:rPr>
              <a:t>New York University, New York, NY, USA</a:t>
            </a:r>
            <a:endParaRPr lang="en-US" sz="950" dirty="0"/>
          </a:p>
        </p:txBody>
      </p:sp>
      <p:sp>
        <p:nvSpPr>
          <p:cNvPr id="6" name="Shape 4"/>
          <p:cNvSpPr/>
          <p:nvPr/>
        </p:nvSpPr>
        <p:spPr>
          <a:xfrm>
            <a:off x="146304" y="2331720"/>
            <a:ext cx="13423392" cy="23289768"/>
          </a:xfrm>
          <a:prstGeom prst="roundRect">
            <a:avLst>
              <a:gd name="adj" fmla="val 409"/>
            </a:avLst>
          </a:prstGeom>
          <a:solidFill>
            <a:srgbClr val="FFFFFF"/>
          </a:solidFill>
          <a:ln w="1270">
            <a:solidFill>
              <a:srgbClr val="FFFFFF"/>
            </a:solidFill>
            <a:prstDash val="solid"/>
          </a:ln>
        </p:spPr>
      </p:sp>
      <p:sp>
        <p:nvSpPr>
          <p:cNvPr id="7" name="Shape 5"/>
          <p:cNvSpPr/>
          <p:nvPr/>
        </p:nvSpPr>
        <p:spPr>
          <a:xfrm>
            <a:off x="365760" y="2596896"/>
            <a:ext cx="6510528" cy="4005072"/>
          </a:xfrm>
          <a:prstGeom prst="roundRect">
            <a:avLst>
              <a:gd name="adj" fmla="val 913"/>
            </a:avLst>
          </a:prstGeom>
          <a:solidFill>
            <a:srgbClr val="FFFFFF"/>
          </a:solidFill>
          <a:ln w="16510">
            <a:solidFill>
              <a:srgbClr val="1D3A67"/>
            </a:solidFill>
            <a:prstDash val="solid"/>
          </a:ln>
        </p:spPr>
      </p:sp>
      <p:sp>
        <p:nvSpPr>
          <p:cNvPr id="8" name="Shape 6"/>
          <p:cNvSpPr/>
          <p:nvPr/>
        </p:nvSpPr>
        <p:spPr>
          <a:xfrm>
            <a:off x="393192" y="2624328"/>
            <a:ext cx="6455664" cy="420624"/>
          </a:xfrm>
          <a:prstGeom prst="roundRect">
            <a:avLst>
              <a:gd name="adj" fmla="val 7609"/>
            </a:avLst>
          </a:prstGeom>
          <a:solidFill>
            <a:srgbClr val="1D3A67"/>
          </a:solidFill>
          <a:ln w="6350">
            <a:solidFill>
              <a:srgbClr val="1D3A67"/>
            </a:solidFill>
            <a:prstDash val="solid"/>
          </a:ln>
        </p:spPr>
      </p:sp>
      <p:sp>
        <p:nvSpPr>
          <p:cNvPr id="9" name="Text 7"/>
          <p:cNvSpPr/>
          <p:nvPr/>
        </p:nvSpPr>
        <p:spPr>
          <a:xfrm>
            <a:off x="475488" y="2688336"/>
            <a:ext cx="6291072" cy="210312"/>
          </a:xfrm>
          <a:prstGeom prst="rect">
            <a:avLst/>
          </a:prstGeom>
          <a:noFill/>
          <a:ln/>
        </p:spPr>
        <p:txBody>
          <a:bodyPr wrap="square" lIns="0" tIns="0" rIns="0" bIns="0" rtlCol="0" anchor="ctr"/>
          <a:lstStyle/>
          <a:p>
            <a:pPr algn="ctr" indent="0" marL="0">
              <a:buNone/>
            </a:pPr>
            <a:r>
              <a:rPr lang="en-US" sz="1170" b="1" spc="60" kern="0" dirty="0">
                <a:solidFill>
                  <a:srgbClr val="FFFFFF"/>
                </a:solidFill>
                <a:latin typeface="Liberation Sans" pitchFamily="34" charset="0"/>
                <a:ea typeface="Liberation Sans" pitchFamily="34" charset="-122"/>
                <a:cs typeface="Liberation Sans" pitchFamily="34" charset="-120"/>
              </a:rPr>
              <a:t>ABSTRACT</a:t>
            </a:r>
            <a:endParaRPr lang="en-US" sz="1170" dirty="0"/>
          </a:p>
        </p:txBody>
      </p:sp>
      <p:sp>
        <p:nvSpPr>
          <p:cNvPr id="10" name="Shape 8"/>
          <p:cNvSpPr/>
          <p:nvPr/>
        </p:nvSpPr>
        <p:spPr>
          <a:xfrm>
            <a:off x="7059168" y="2596896"/>
            <a:ext cx="6291072" cy="4005072"/>
          </a:xfrm>
          <a:prstGeom prst="roundRect">
            <a:avLst>
              <a:gd name="adj" fmla="val 913"/>
            </a:avLst>
          </a:prstGeom>
          <a:solidFill>
            <a:srgbClr val="FFFFFF"/>
          </a:solidFill>
          <a:ln w="16510">
            <a:solidFill>
              <a:srgbClr val="1D3A67"/>
            </a:solidFill>
            <a:prstDash val="solid"/>
          </a:ln>
        </p:spPr>
      </p:sp>
      <p:sp>
        <p:nvSpPr>
          <p:cNvPr id="11" name="Shape 9"/>
          <p:cNvSpPr/>
          <p:nvPr/>
        </p:nvSpPr>
        <p:spPr>
          <a:xfrm>
            <a:off x="7086600" y="2624328"/>
            <a:ext cx="6236208" cy="420624"/>
          </a:xfrm>
          <a:prstGeom prst="roundRect">
            <a:avLst>
              <a:gd name="adj" fmla="val 7609"/>
            </a:avLst>
          </a:prstGeom>
          <a:solidFill>
            <a:srgbClr val="1D3A67"/>
          </a:solidFill>
          <a:ln w="6350">
            <a:solidFill>
              <a:srgbClr val="1D3A67"/>
            </a:solidFill>
            <a:prstDash val="solid"/>
          </a:ln>
        </p:spPr>
      </p:sp>
      <p:sp>
        <p:nvSpPr>
          <p:cNvPr id="12" name="Text 10"/>
          <p:cNvSpPr/>
          <p:nvPr/>
        </p:nvSpPr>
        <p:spPr>
          <a:xfrm>
            <a:off x="7168896" y="2688336"/>
            <a:ext cx="6071616" cy="210312"/>
          </a:xfrm>
          <a:prstGeom prst="rect">
            <a:avLst/>
          </a:prstGeom>
          <a:noFill/>
          <a:ln/>
        </p:spPr>
        <p:txBody>
          <a:bodyPr wrap="square" lIns="0" tIns="0" rIns="0" bIns="0" rtlCol="0" anchor="ctr"/>
          <a:lstStyle/>
          <a:p>
            <a:pPr algn="ctr" indent="0" marL="0">
              <a:buNone/>
            </a:pPr>
            <a:r>
              <a:rPr lang="en-US" sz="1170" b="1" spc="60" kern="0" dirty="0">
                <a:solidFill>
                  <a:srgbClr val="FFFFFF"/>
                </a:solidFill>
                <a:latin typeface="Liberation Sans" pitchFamily="34" charset="0"/>
                <a:ea typeface="Liberation Sans" pitchFamily="34" charset="-122"/>
                <a:cs typeface="Liberation Sans" pitchFamily="34" charset="-120"/>
              </a:rPr>
              <a:t>I. INTRODUCTION</a:t>
            </a:r>
            <a:endParaRPr lang="en-US" sz="1170" dirty="0"/>
          </a:p>
        </p:txBody>
      </p:sp>
      <p:sp>
        <p:nvSpPr>
          <p:cNvPr id="13" name="Shape 11"/>
          <p:cNvSpPr/>
          <p:nvPr/>
        </p:nvSpPr>
        <p:spPr>
          <a:xfrm>
            <a:off x="365760" y="6839712"/>
            <a:ext cx="4681728" cy="8174736"/>
          </a:xfrm>
          <a:prstGeom prst="roundRect">
            <a:avLst>
              <a:gd name="adj" fmla="val 781"/>
            </a:avLst>
          </a:prstGeom>
          <a:solidFill>
            <a:srgbClr val="FFFFFF"/>
          </a:solidFill>
          <a:ln w="16510">
            <a:solidFill>
              <a:srgbClr val="1D3A67"/>
            </a:solidFill>
            <a:prstDash val="solid"/>
          </a:ln>
        </p:spPr>
      </p:sp>
      <p:sp>
        <p:nvSpPr>
          <p:cNvPr id="14" name="Shape 12"/>
          <p:cNvSpPr/>
          <p:nvPr/>
        </p:nvSpPr>
        <p:spPr>
          <a:xfrm>
            <a:off x="393192" y="6867144"/>
            <a:ext cx="4626864" cy="420624"/>
          </a:xfrm>
          <a:prstGeom prst="roundRect">
            <a:avLst>
              <a:gd name="adj" fmla="val 7609"/>
            </a:avLst>
          </a:prstGeom>
          <a:solidFill>
            <a:srgbClr val="1D3A67"/>
          </a:solidFill>
          <a:ln w="6350">
            <a:solidFill>
              <a:srgbClr val="1D3A67"/>
            </a:solidFill>
            <a:prstDash val="solid"/>
          </a:ln>
        </p:spPr>
      </p:sp>
      <p:sp>
        <p:nvSpPr>
          <p:cNvPr id="15" name="Text 13"/>
          <p:cNvSpPr/>
          <p:nvPr/>
        </p:nvSpPr>
        <p:spPr>
          <a:xfrm>
            <a:off x="475488" y="6931152"/>
            <a:ext cx="4462272" cy="210312"/>
          </a:xfrm>
          <a:prstGeom prst="rect">
            <a:avLst/>
          </a:prstGeom>
          <a:noFill/>
          <a:ln/>
        </p:spPr>
        <p:txBody>
          <a:bodyPr wrap="square" lIns="0" tIns="0" rIns="0" bIns="0" rtlCol="0" anchor="ctr"/>
          <a:lstStyle/>
          <a:p>
            <a:pPr algn="ctr" indent="0" marL="0">
              <a:buNone/>
            </a:pPr>
            <a:r>
              <a:rPr lang="en-US" sz="1170" b="1" spc="60" kern="0" dirty="0">
                <a:solidFill>
                  <a:srgbClr val="FFFFFF"/>
                </a:solidFill>
                <a:latin typeface="Liberation Sans" pitchFamily="34" charset="0"/>
                <a:ea typeface="Liberation Sans" pitchFamily="34" charset="-122"/>
                <a:cs typeface="Liberation Sans" pitchFamily="34" charset="-120"/>
              </a:rPr>
              <a:t>II. PROBLEM DOMAIN</a:t>
            </a:r>
            <a:endParaRPr lang="en-US" sz="1170" dirty="0"/>
          </a:p>
        </p:txBody>
      </p:sp>
      <p:sp>
        <p:nvSpPr>
          <p:cNvPr id="16" name="Shape 14"/>
          <p:cNvSpPr/>
          <p:nvPr/>
        </p:nvSpPr>
        <p:spPr>
          <a:xfrm>
            <a:off x="5230368" y="6839712"/>
            <a:ext cx="8119872" cy="8174736"/>
          </a:xfrm>
          <a:prstGeom prst="roundRect">
            <a:avLst>
              <a:gd name="adj" fmla="val 450"/>
            </a:avLst>
          </a:prstGeom>
          <a:solidFill>
            <a:srgbClr val="FFFFFF"/>
          </a:solidFill>
          <a:ln w="16510">
            <a:solidFill>
              <a:srgbClr val="1D3A67"/>
            </a:solidFill>
            <a:prstDash val="solid"/>
          </a:ln>
        </p:spPr>
      </p:sp>
      <p:sp>
        <p:nvSpPr>
          <p:cNvPr id="17" name="Shape 15"/>
          <p:cNvSpPr/>
          <p:nvPr/>
        </p:nvSpPr>
        <p:spPr>
          <a:xfrm>
            <a:off x="5257800" y="6867144"/>
            <a:ext cx="8065008" cy="420624"/>
          </a:xfrm>
          <a:prstGeom prst="roundRect">
            <a:avLst>
              <a:gd name="adj" fmla="val 7609"/>
            </a:avLst>
          </a:prstGeom>
          <a:solidFill>
            <a:srgbClr val="1D3A67"/>
          </a:solidFill>
          <a:ln w="6350">
            <a:solidFill>
              <a:srgbClr val="1D3A67"/>
            </a:solidFill>
            <a:prstDash val="solid"/>
          </a:ln>
        </p:spPr>
      </p:sp>
      <p:sp>
        <p:nvSpPr>
          <p:cNvPr id="18" name="Text 16"/>
          <p:cNvSpPr/>
          <p:nvPr/>
        </p:nvSpPr>
        <p:spPr>
          <a:xfrm>
            <a:off x="5340096" y="6931152"/>
            <a:ext cx="7900416" cy="210312"/>
          </a:xfrm>
          <a:prstGeom prst="rect">
            <a:avLst/>
          </a:prstGeom>
          <a:noFill/>
          <a:ln/>
        </p:spPr>
        <p:txBody>
          <a:bodyPr wrap="square" lIns="0" tIns="0" rIns="0" bIns="0" rtlCol="0" anchor="ctr"/>
          <a:lstStyle/>
          <a:p>
            <a:pPr algn="ctr" indent="0" marL="0">
              <a:buNone/>
            </a:pPr>
            <a:r>
              <a:rPr lang="en-US" sz="1170" b="1" spc="60" kern="0" dirty="0">
                <a:solidFill>
                  <a:srgbClr val="FFFFFF"/>
                </a:solidFill>
                <a:latin typeface="Liberation Sans" pitchFamily="34" charset="0"/>
                <a:ea typeface="Liberation Sans" pitchFamily="34" charset="-122"/>
                <a:cs typeface="Liberation Sans" pitchFamily="34" charset="-120"/>
              </a:rPr>
              <a:t>III. METHODOLOGY</a:t>
            </a:r>
            <a:endParaRPr lang="en-US" sz="1170" dirty="0"/>
          </a:p>
        </p:txBody>
      </p:sp>
      <p:sp>
        <p:nvSpPr>
          <p:cNvPr id="19" name="Shape 17"/>
          <p:cNvSpPr/>
          <p:nvPr/>
        </p:nvSpPr>
        <p:spPr>
          <a:xfrm>
            <a:off x="365760" y="15252192"/>
            <a:ext cx="4681728" cy="6291072"/>
          </a:xfrm>
          <a:prstGeom prst="roundRect">
            <a:avLst>
              <a:gd name="adj" fmla="val 781"/>
            </a:avLst>
          </a:prstGeom>
          <a:solidFill>
            <a:srgbClr val="FFFFFF"/>
          </a:solidFill>
          <a:ln w="16510">
            <a:solidFill>
              <a:srgbClr val="1D3A67"/>
            </a:solidFill>
            <a:prstDash val="solid"/>
          </a:ln>
        </p:spPr>
      </p:sp>
      <p:sp>
        <p:nvSpPr>
          <p:cNvPr id="20" name="Shape 18"/>
          <p:cNvSpPr/>
          <p:nvPr/>
        </p:nvSpPr>
        <p:spPr>
          <a:xfrm>
            <a:off x="393192" y="15279624"/>
            <a:ext cx="4626864" cy="420624"/>
          </a:xfrm>
          <a:prstGeom prst="roundRect">
            <a:avLst>
              <a:gd name="adj" fmla="val 7609"/>
            </a:avLst>
          </a:prstGeom>
          <a:solidFill>
            <a:srgbClr val="1D3A67"/>
          </a:solidFill>
          <a:ln w="6350">
            <a:solidFill>
              <a:srgbClr val="1D3A67"/>
            </a:solidFill>
            <a:prstDash val="solid"/>
          </a:ln>
        </p:spPr>
      </p:sp>
      <p:sp>
        <p:nvSpPr>
          <p:cNvPr id="21" name="Text 19"/>
          <p:cNvSpPr/>
          <p:nvPr/>
        </p:nvSpPr>
        <p:spPr>
          <a:xfrm>
            <a:off x="475488" y="15343632"/>
            <a:ext cx="4462272" cy="210312"/>
          </a:xfrm>
          <a:prstGeom prst="rect">
            <a:avLst/>
          </a:prstGeom>
          <a:noFill/>
          <a:ln/>
        </p:spPr>
        <p:txBody>
          <a:bodyPr wrap="square" lIns="0" tIns="0" rIns="0" bIns="0" rtlCol="0" anchor="ctr"/>
          <a:lstStyle/>
          <a:p>
            <a:pPr algn="ctr" indent="0" marL="0">
              <a:buNone/>
            </a:pPr>
            <a:r>
              <a:rPr lang="en-US" sz="1170" b="1" spc="60" kern="0" dirty="0">
                <a:solidFill>
                  <a:srgbClr val="FFFFFF"/>
                </a:solidFill>
                <a:latin typeface="Liberation Sans" pitchFamily="34" charset="0"/>
                <a:ea typeface="Liberation Sans" pitchFamily="34" charset="-122"/>
                <a:cs typeface="Liberation Sans" pitchFamily="34" charset="-120"/>
              </a:rPr>
              <a:t>IV. EVALUATION SETUP</a:t>
            </a:r>
            <a:endParaRPr lang="en-US" sz="1170" dirty="0"/>
          </a:p>
        </p:txBody>
      </p:sp>
      <p:sp>
        <p:nvSpPr>
          <p:cNvPr id="22" name="Shape 20"/>
          <p:cNvSpPr/>
          <p:nvPr/>
        </p:nvSpPr>
        <p:spPr>
          <a:xfrm>
            <a:off x="5230368" y="15252192"/>
            <a:ext cx="8119872" cy="6291072"/>
          </a:xfrm>
          <a:prstGeom prst="roundRect">
            <a:avLst>
              <a:gd name="adj" fmla="val 581"/>
            </a:avLst>
          </a:prstGeom>
          <a:solidFill>
            <a:srgbClr val="FFFFFF"/>
          </a:solidFill>
          <a:ln w="16510">
            <a:solidFill>
              <a:srgbClr val="1D3A67"/>
            </a:solidFill>
            <a:prstDash val="solid"/>
          </a:ln>
        </p:spPr>
      </p:sp>
      <p:sp>
        <p:nvSpPr>
          <p:cNvPr id="23" name="Shape 21"/>
          <p:cNvSpPr/>
          <p:nvPr/>
        </p:nvSpPr>
        <p:spPr>
          <a:xfrm>
            <a:off x="5257800" y="15279624"/>
            <a:ext cx="8065008" cy="420624"/>
          </a:xfrm>
          <a:prstGeom prst="roundRect">
            <a:avLst>
              <a:gd name="adj" fmla="val 7609"/>
            </a:avLst>
          </a:prstGeom>
          <a:solidFill>
            <a:srgbClr val="1D3A67"/>
          </a:solidFill>
          <a:ln w="6350">
            <a:solidFill>
              <a:srgbClr val="1D3A67"/>
            </a:solidFill>
            <a:prstDash val="solid"/>
          </a:ln>
        </p:spPr>
      </p:sp>
      <p:sp>
        <p:nvSpPr>
          <p:cNvPr id="24" name="Text 22"/>
          <p:cNvSpPr/>
          <p:nvPr/>
        </p:nvSpPr>
        <p:spPr>
          <a:xfrm>
            <a:off x="5340096" y="15343632"/>
            <a:ext cx="7900416" cy="210312"/>
          </a:xfrm>
          <a:prstGeom prst="rect">
            <a:avLst/>
          </a:prstGeom>
          <a:noFill/>
          <a:ln/>
        </p:spPr>
        <p:txBody>
          <a:bodyPr wrap="square" lIns="0" tIns="0" rIns="0" bIns="0" rtlCol="0" anchor="ctr"/>
          <a:lstStyle/>
          <a:p>
            <a:pPr algn="ctr" indent="0" marL="0">
              <a:buNone/>
            </a:pPr>
            <a:r>
              <a:rPr lang="en-US" sz="1170" b="1" spc="60" kern="0" dirty="0">
                <a:solidFill>
                  <a:srgbClr val="FFFFFF"/>
                </a:solidFill>
                <a:latin typeface="Liberation Sans" pitchFamily="34" charset="0"/>
                <a:ea typeface="Liberation Sans" pitchFamily="34" charset="-122"/>
                <a:cs typeface="Liberation Sans" pitchFamily="34" charset="-120"/>
              </a:rPr>
              <a:t>V. RESULTS</a:t>
            </a:r>
            <a:endParaRPr lang="en-US" sz="1170" dirty="0"/>
          </a:p>
        </p:txBody>
      </p:sp>
      <p:sp>
        <p:nvSpPr>
          <p:cNvPr id="25" name="Shape 23"/>
          <p:cNvSpPr/>
          <p:nvPr/>
        </p:nvSpPr>
        <p:spPr>
          <a:xfrm>
            <a:off x="365760" y="21781008"/>
            <a:ext cx="4261104" cy="3465576"/>
          </a:xfrm>
          <a:prstGeom prst="roundRect">
            <a:avLst>
              <a:gd name="adj" fmla="val 1055"/>
            </a:avLst>
          </a:prstGeom>
          <a:solidFill>
            <a:srgbClr val="FFFFFF"/>
          </a:solidFill>
          <a:ln w="16510">
            <a:solidFill>
              <a:srgbClr val="1D3A67"/>
            </a:solidFill>
            <a:prstDash val="solid"/>
          </a:ln>
        </p:spPr>
      </p:sp>
      <p:sp>
        <p:nvSpPr>
          <p:cNvPr id="26" name="Shape 24"/>
          <p:cNvSpPr/>
          <p:nvPr/>
        </p:nvSpPr>
        <p:spPr>
          <a:xfrm>
            <a:off x="393192" y="21808440"/>
            <a:ext cx="4206240" cy="420624"/>
          </a:xfrm>
          <a:prstGeom prst="roundRect">
            <a:avLst>
              <a:gd name="adj" fmla="val 7609"/>
            </a:avLst>
          </a:prstGeom>
          <a:solidFill>
            <a:srgbClr val="1D3A67"/>
          </a:solidFill>
          <a:ln w="6350">
            <a:solidFill>
              <a:srgbClr val="1D3A67"/>
            </a:solidFill>
            <a:prstDash val="solid"/>
          </a:ln>
        </p:spPr>
      </p:sp>
      <p:sp>
        <p:nvSpPr>
          <p:cNvPr id="27" name="Text 25"/>
          <p:cNvSpPr/>
          <p:nvPr/>
        </p:nvSpPr>
        <p:spPr>
          <a:xfrm>
            <a:off x="475488" y="21872448"/>
            <a:ext cx="4041648" cy="210312"/>
          </a:xfrm>
          <a:prstGeom prst="rect">
            <a:avLst/>
          </a:prstGeom>
          <a:noFill/>
          <a:ln/>
        </p:spPr>
        <p:txBody>
          <a:bodyPr wrap="square" lIns="0" tIns="0" rIns="0" bIns="0" rtlCol="0" anchor="ctr"/>
          <a:lstStyle/>
          <a:p>
            <a:pPr algn="ctr" indent="0" marL="0">
              <a:buNone/>
            </a:pPr>
            <a:r>
              <a:rPr lang="en-US" sz="1170" b="1" spc="60" kern="0" dirty="0">
                <a:solidFill>
                  <a:srgbClr val="FFFFFF"/>
                </a:solidFill>
                <a:latin typeface="Liberation Sans" pitchFamily="34" charset="0"/>
                <a:ea typeface="Liberation Sans" pitchFamily="34" charset="-122"/>
                <a:cs typeface="Liberation Sans" pitchFamily="34" charset="-120"/>
              </a:rPr>
              <a:t>VI. CONCLUSION</a:t>
            </a:r>
            <a:endParaRPr lang="en-US" sz="1170" dirty="0"/>
          </a:p>
        </p:txBody>
      </p:sp>
      <p:sp>
        <p:nvSpPr>
          <p:cNvPr id="28" name="Shape 26"/>
          <p:cNvSpPr/>
          <p:nvPr/>
        </p:nvSpPr>
        <p:spPr>
          <a:xfrm>
            <a:off x="4809744" y="21781008"/>
            <a:ext cx="4270248" cy="3465576"/>
          </a:xfrm>
          <a:prstGeom prst="roundRect">
            <a:avLst>
              <a:gd name="adj" fmla="val 1055"/>
            </a:avLst>
          </a:prstGeom>
          <a:solidFill>
            <a:srgbClr val="FFFFFF"/>
          </a:solidFill>
          <a:ln w="16510">
            <a:solidFill>
              <a:srgbClr val="1D3A67"/>
            </a:solidFill>
            <a:prstDash val="solid"/>
          </a:ln>
        </p:spPr>
      </p:sp>
      <p:sp>
        <p:nvSpPr>
          <p:cNvPr id="29" name="Shape 27"/>
          <p:cNvSpPr/>
          <p:nvPr/>
        </p:nvSpPr>
        <p:spPr>
          <a:xfrm>
            <a:off x="4837176" y="21808440"/>
            <a:ext cx="4215384" cy="420624"/>
          </a:xfrm>
          <a:prstGeom prst="roundRect">
            <a:avLst>
              <a:gd name="adj" fmla="val 7609"/>
            </a:avLst>
          </a:prstGeom>
          <a:solidFill>
            <a:srgbClr val="1D3A67"/>
          </a:solidFill>
          <a:ln w="6350">
            <a:solidFill>
              <a:srgbClr val="1D3A67"/>
            </a:solidFill>
            <a:prstDash val="solid"/>
          </a:ln>
        </p:spPr>
      </p:sp>
      <p:sp>
        <p:nvSpPr>
          <p:cNvPr id="30" name="Text 28"/>
          <p:cNvSpPr/>
          <p:nvPr/>
        </p:nvSpPr>
        <p:spPr>
          <a:xfrm>
            <a:off x="4919472" y="21872448"/>
            <a:ext cx="4050792" cy="210312"/>
          </a:xfrm>
          <a:prstGeom prst="rect">
            <a:avLst/>
          </a:prstGeom>
          <a:noFill/>
          <a:ln/>
        </p:spPr>
        <p:txBody>
          <a:bodyPr wrap="square" lIns="0" tIns="0" rIns="0" bIns="0" rtlCol="0" anchor="ctr"/>
          <a:lstStyle/>
          <a:p>
            <a:pPr algn="ctr" indent="0" marL="0">
              <a:buNone/>
            </a:pPr>
            <a:r>
              <a:rPr lang="en-US" sz="1170" b="1" spc="60" kern="0" dirty="0">
                <a:solidFill>
                  <a:srgbClr val="FFFFFF"/>
                </a:solidFill>
                <a:latin typeface="Liberation Sans" pitchFamily="34" charset="0"/>
                <a:ea typeface="Liberation Sans" pitchFamily="34" charset="-122"/>
                <a:cs typeface="Liberation Sans" pitchFamily="34" charset="-120"/>
              </a:rPr>
              <a:t>VII. FUTURE WORK</a:t>
            </a:r>
            <a:endParaRPr lang="en-US" sz="1170" dirty="0"/>
          </a:p>
        </p:txBody>
      </p:sp>
      <p:sp>
        <p:nvSpPr>
          <p:cNvPr id="31" name="Shape 29"/>
          <p:cNvSpPr/>
          <p:nvPr/>
        </p:nvSpPr>
        <p:spPr>
          <a:xfrm>
            <a:off x="9262872" y="21781008"/>
            <a:ext cx="4087368" cy="3465576"/>
          </a:xfrm>
          <a:prstGeom prst="roundRect">
            <a:avLst>
              <a:gd name="adj" fmla="val 1055"/>
            </a:avLst>
          </a:prstGeom>
          <a:solidFill>
            <a:srgbClr val="FFFFFF"/>
          </a:solidFill>
          <a:ln w="16510">
            <a:solidFill>
              <a:srgbClr val="1D3A67"/>
            </a:solidFill>
            <a:prstDash val="solid"/>
          </a:ln>
        </p:spPr>
      </p:sp>
      <p:sp>
        <p:nvSpPr>
          <p:cNvPr id="32" name="Shape 30"/>
          <p:cNvSpPr/>
          <p:nvPr/>
        </p:nvSpPr>
        <p:spPr>
          <a:xfrm>
            <a:off x="9290304" y="21808440"/>
            <a:ext cx="4032504" cy="420624"/>
          </a:xfrm>
          <a:prstGeom prst="roundRect">
            <a:avLst>
              <a:gd name="adj" fmla="val 7609"/>
            </a:avLst>
          </a:prstGeom>
          <a:solidFill>
            <a:srgbClr val="1D3A67"/>
          </a:solidFill>
          <a:ln w="6350">
            <a:solidFill>
              <a:srgbClr val="1D3A67"/>
            </a:solidFill>
            <a:prstDash val="solid"/>
          </a:ln>
        </p:spPr>
      </p:sp>
      <p:sp>
        <p:nvSpPr>
          <p:cNvPr id="33" name="Text 31"/>
          <p:cNvSpPr/>
          <p:nvPr/>
        </p:nvSpPr>
        <p:spPr>
          <a:xfrm>
            <a:off x="9372600" y="21872448"/>
            <a:ext cx="3867912" cy="210312"/>
          </a:xfrm>
          <a:prstGeom prst="rect">
            <a:avLst/>
          </a:prstGeom>
          <a:noFill/>
          <a:ln/>
        </p:spPr>
        <p:txBody>
          <a:bodyPr wrap="square" lIns="0" tIns="0" rIns="0" bIns="0" rtlCol="0" anchor="ctr"/>
          <a:lstStyle/>
          <a:p>
            <a:pPr algn="ctr" indent="0" marL="0">
              <a:buNone/>
            </a:pPr>
            <a:r>
              <a:rPr lang="en-US" sz="1170" b="1" spc="60" kern="0" dirty="0">
                <a:solidFill>
                  <a:srgbClr val="FFFFFF"/>
                </a:solidFill>
                <a:latin typeface="Liberation Sans" pitchFamily="34" charset="0"/>
                <a:ea typeface="Liberation Sans" pitchFamily="34" charset="-122"/>
                <a:cs typeface="Liberation Sans" pitchFamily="34" charset="-120"/>
              </a:rPr>
              <a:t>REFERENCES</a:t>
            </a:r>
            <a:endParaRPr lang="en-US" sz="1170" dirty="0"/>
          </a:p>
        </p:txBody>
      </p:sp>
      <p:sp>
        <p:nvSpPr>
          <p:cNvPr id="34" name="Text 32"/>
          <p:cNvSpPr/>
          <p:nvPr/>
        </p:nvSpPr>
        <p:spPr>
          <a:xfrm>
            <a:off x="621792" y="3337560"/>
            <a:ext cx="5998464" cy="1993392"/>
          </a:xfrm>
          <a:prstGeom prst="rect">
            <a:avLst/>
          </a:prstGeom>
          <a:noFill/>
          <a:ln/>
        </p:spPr>
        <p:txBody>
          <a:bodyPr wrap="square" lIns="381" tIns="381" rIns="381" bIns="381" rtlCol="0" anchor="t">
            <a:normAutofit/>
          </a:bodyPr>
          <a:lstStyle/>
          <a:p>
            <a:pPr algn="l" indent="0" marL="0">
              <a:lnSpc>
                <a:spcPct val="96000"/>
              </a:lnSpc>
              <a:buNone/>
            </a:pPr>
            <a:r>
              <a:rPr lang="en-US" sz="1015" dirty="0">
                <a:solidFill>
                  <a:srgbClr val="1E2933"/>
                </a:solidFill>
                <a:latin typeface="Liberation Sans" pitchFamily="34" charset="0"/>
                <a:ea typeface="Liberation Sans" pitchFamily="34" charset="-122"/>
                <a:cs typeface="Liberation Sans" pitchFamily="34" charset="-120"/>
              </a:rPr>
              <a:t>Perimeter defenses focus on preventing initial access, but once valid credentials are compromised, lateral movement toward high-value systems can blend with legitimate activity. This poster independently evaluates whether graph-assisted authentication analysis improves detection over a simple novelty-rule baseline. The public synthetic dataset contains 180,000 events across 30 days, 498 active users, 150 destination hosts, and 16,391 labeled attack chains aligned with MITRE ATT&amp;CK T1078 and T1021. A chronological baseline, fit, and held-out test design is used. Under the same 32,013-alert review budget, the graph-based method achieved 0.823 precision, 0.623 recall, and 0.119 FPR, compared with 0.687, 0.520, and 0.210 for the baseline. Because the data and labels are synthetic and attack-enriched, the results demonstrate feasibility rather than validated production performance.</a:t>
            </a:r>
            <a:endParaRPr lang="en-US" sz="1015" dirty="0"/>
          </a:p>
        </p:txBody>
      </p:sp>
      <p:sp>
        <p:nvSpPr>
          <p:cNvPr id="35" name="Shape 33"/>
          <p:cNvSpPr/>
          <p:nvPr/>
        </p:nvSpPr>
        <p:spPr>
          <a:xfrm>
            <a:off x="658368" y="5532120"/>
            <a:ext cx="1298448" cy="640080"/>
          </a:xfrm>
          <a:prstGeom prst="roundRect">
            <a:avLst>
              <a:gd name="adj" fmla="val 4286"/>
            </a:avLst>
          </a:prstGeom>
          <a:solidFill>
            <a:srgbClr val="DCECF8"/>
          </a:solidFill>
          <a:ln w="10160">
            <a:solidFill>
              <a:srgbClr val="2E77B8"/>
            </a:solidFill>
            <a:prstDash val="solid"/>
          </a:ln>
        </p:spPr>
      </p:sp>
      <p:sp>
        <p:nvSpPr>
          <p:cNvPr id="36" name="Text 34"/>
          <p:cNvSpPr/>
          <p:nvPr/>
        </p:nvSpPr>
        <p:spPr>
          <a:xfrm>
            <a:off x="704088" y="5632704"/>
            <a:ext cx="1207008" cy="182880"/>
          </a:xfrm>
          <a:prstGeom prst="rect">
            <a:avLst/>
          </a:prstGeom>
          <a:noFill/>
          <a:ln/>
        </p:spPr>
        <p:txBody>
          <a:bodyPr wrap="square" lIns="0" tIns="0" rIns="0" bIns="0" rtlCol="0" anchor="ctr"/>
          <a:lstStyle/>
          <a:p>
            <a:pPr algn="ctr" indent="0" marL="0">
              <a:buNone/>
            </a:pPr>
            <a:r>
              <a:rPr lang="en-US" sz="1220" b="1" dirty="0">
                <a:solidFill>
                  <a:srgbClr val="17365D"/>
                </a:solidFill>
              </a:rPr>
              <a:t>180K</a:t>
            </a:r>
            <a:endParaRPr lang="en-US" sz="1220" dirty="0"/>
          </a:p>
        </p:txBody>
      </p:sp>
      <p:sp>
        <p:nvSpPr>
          <p:cNvPr id="37" name="Text 35"/>
          <p:cNvSpPr/>
          <p:nvPr/>
        </p:nvSpPr>
        <p:spPr>
          <a:xfrm>
            <a:off x="704088" y="5852160"/>
            <a:ext cx="1207008" cy="146304"/>
          </a:xfrm>
          <a:prstGeom prst="rect">
            <a:avLst/>
          </a:prstGeom>
          <a:noFill/>
          <a:ln/>
        </p:spPr>
        <p:txBody>
          <a:bodyPr wrap="square" lIns="0" tIns="0" rIns="0" bIns="0" rtlCol="0" anchor="ctr"/>
          <a:lstStyle/>
          <a:p>
            <a:pPr algn="ctr" indent="0" marL="0">
              <a:buNone/>
            </a:pPr>
            <a:r>
              <a:rPr lang="en-US" sz="680" dirty="0">
                <a:solidFill>
                  <a:srgbClr val="5F6B76"/>
                </a:solidFill>
              </a:rPr>
              <a:t>events</a:t>
            </a:r>
            <a:endParaRPr lang="en-US" sz="680" dirty="0"/>
          </a:p>
        </p:txBody>
      </p:sp>
      <p:sp>
        <p:nvSpPr>
          <p:cNvPr id="38" name="Shape 36"/>
          <p:cNvSpPr/>
          <p:nvPr/>
        </p:nvSpPr>
        <p:spPr>
          <a:xfrm>
            <a:off x="2139696" y="5532120"/>
            <a:ext cx="1298448" cy="640080"/>
          </a:xfrm>
          <a:prstGeom prst="roundRect">
            <a:avLst>
              <a:gd name="adj" fmla="val 4286"/>
            </a:avLst>
          </a:prstGeom>
          <a:solidFill>
            <a:srgbClr val="E7F3E7"/>
          </a:solidFill>
          <a:ln w="10160">
            <a:solidFill>
              <a:srgbClr val="4E9B50"/>
            </a:solidFill>
            <a:prstDash val="solid"/>
          </a:ln>
        </p:spPr>
      </p:sp>
      <p:sp>
        <p:nvSpPr>
          <p:cNvPr id="39" name="Text 37"/>
          <p:cNvSpPr/>
          <p:nvPr/>
        </p:nvSpPr>
        <p:spPr>
          <a:xfrm>
            <a:off x="2185416" y="5632704"/>
            <a:ext cx="1207008" cy="182880"/>
          </a:xfrm>
          <a:prstGeom prst="rect">
            <a:avLst/>
          </a:prstGeom>
          <a:noFill/>
          <a:ln/>
        </p:spPr>
        <p:txBody>
          <a:bodyPr wrap="square" lIns="0" tIns="0" rIns="0" bIns="0" rtlCol="0" anchor="ctr"/>
          <a:lstStyle/>
          <a:p>
            <a:pPr algn="ctr" indent="0" marL="0">
              <a:buNone/>
            </a:pPr>
            <a:r>
              <a:rPr lang="en-US" sz="1220" b="1" dirty="0">
                <a:solidFill>
                  <a:srgbClr val="17365D"/>
                </a:solidFill>
              </a:rPr>
              <a:t>498</a:t>
            </a:r>
            <a:endParaRPr lang="en-US" sz="1220" dirty="0"/>
          </a:p>
        </p:txBody>
      </p:sp>
      <p:sp>
        <p:nvSpPr>
          <p:cNvPr id="40" name="Text 38"/>
          <p:cNvSpPr/>
          <p:nvPr/>
        </p:nvSpPr>
        <p:spPr>
          <a:xfrm>
            <a:off x="2185416" y="5852160"/>
            <a:ext cx="1207008" cy="146304"/>
          </a:xfrm>
          <a:prstGeom prst="rect">
            <a:avLst/>
          </a:prstGeom>
          <a:noFill/>
          <a:ln/>
        </p:spPr>
        <p:txBody>
          <a:bodyPr wrap="square" lIns="0" tIns="0" rIns="0" bIns="0" rtlCol="0" anchor="ctr"/>
          <a:lstStyle/>
          <a:p>
            <a:pPr algn="ctr" indent="0" marL="0">
              <a:buNone/>
            </a:pPr>
            <a:r>
              <a:rPr lang="en-US" sz="680" dirty="0">
                <a:solidFill>
                  <a:srgbClr val="5F6B76"/>
                </a:solidFill>
              </a:rPr>
              <a:t>active users</a:t>
            </a:r>
            <a:endParaRPr lang="en-US" sz="680" dirty="0"/>
          </a:p>
        </p:txBody>
      </p:sp>
      <p:sp>
        <p:nvSpPr>
          <p:cNvPr id="41" name="Shape 39"/>
          <p:cNvSpPr/>
          <p:nvPr/>
        </p:nvSpPr>
        <p:spPr>
          <a:xfrm>
            <a:off x="3621024" y="5532120"/>
            <a:ext cx="1298448" cy="640080"/>
          </a:xfrm>
          <a:prstGeom prst="roundRect">
            <a:avLst>
              <a:gd name="adj" fmla="val 4286"/>
            </a:avLst>
          </a:prstGeom>
          <a:solidFill>
            <a:srgbClr val="DCECF8"/>
          </a:solidFill>
          <a:ln w="10160">
            <a:solidFill>
              <a:srgbClr val="2E77B8"/>
            </a:solidFill>
            <a:prstDash val="solid"/>
          </a:ln>
        </p:spPr>
      </p:sp>
      <p:sp>
        <p:nvSpPr>
          <p:cNvPr id="42" name="Text 40"/>
          <p:cNvSpPr/>
          <p:nvPr/>
        </p:nvSpPr>
        <p:spPr>
          <a:xfrm>
            <a:off x="3666744" y="5632704"/>
            <a:ext cx="1207008" cy="182880"/>
          </a:xfrm>
          <a:prstGeom prst="rect">
            <a:avLst/>
          </a:prstGeom>
          <a:noFill/>
          <a:ln/>
        </p:spPr>
        <p:txBody>
          <a:bodyPr wrap="square" lIns="0" tIns="0" rIns="0" bIns="0" rtlCol="0" anchor="ctr"/>
          <a:lstStyle/>
          <a:p>
            <a:pPr algn="ctr" indent="0" marL="0">
              <a:buNone/>
            </a:pPr>
            <a:r>
              <a:rPr lang="en-US" sz="1220" b="1" dirty="0">
                <a:solidFill>
                  <a:srgbClr val="17365D"/>
                </a:solidFill>
              </a:rPr>
              <a:t>150</a:t>
            </a:r>
            <a:endParaRPr lang="en-US" sz="1220" dirty="0"/>
          </a:p>
        </p:txBody>
      </p:sp>
      <p:sp>
        <p:nvSpPr>
          <p:cNvPr id="43" name="Text 41"/>
          <p:cNvSpPr/>
          <p:nvPr/>
        </p:nvSpPr>
        <p:spPr>
          <a:xfrm>
            <a:off x="3666744" y="5852160"/>
            <a:ext cx="1207008" cy="146304"/>
          </a:xfrm>
          <a:prstGeom prst="rect">
            <a:avLst/>
          </a:prstGeom>
          <a:noFill/>
          <a:ln/>
        </p:spPr>
        <p:txBody>
          <a:bodyPr wrap="square" lIns="0" tIns="0" rIns="0" bIns="0" rtlCol="0" anchor="ctr"/>
          <a:lstStyle/>
          <a:p>
            <a:pPr algn="ctr" indent="0" marL="0">
              <a:buNone/>
            </a:pPr>
            <a:r>
              <a:rPr lang="en-US" sz="680" dirty="0">
                <a:solidFill>
                  <a:srgbClr val="5F6B76"/>
                </a:solidFill>
              </a:rPr>
              <a:t>destination hosts</a:t>
            </a:r>
            <a:endParaRPr lang="en-US" sz="680" dirty="0"/>
          </a:p>
        </p:txBody>
      </p:sp>
      <p:sp>
        <p:nvSpPr>
          <p:cNvPr id="44" name="Shape 42"/>
          <p:cNvSpPr/>
          <p:nvPr/>
        </p:nvSpPr>
        <p:spPr>
          <a:xfrm>
            <a:off x="5102352" y="5532120"/>
            <a:ext cx="1298448" cy="640080"/>
          </a:xfrm>
          <a:prstGeom prst="roundRect">
            <a:avLst>
              <a:gd name="adj" fmla="val 4286"/>
            </a:avLst>
          </a:prstGeom>
          <a:solidFill>
            <a:srgbClr val="E7F3E7"/>
          </a:solidFill>
          <a:ln w="10160">
            <a:solidFill>
              <a:srgbClr val="4E9B50"/>
            </a:solidFill>
            <a:prstDash val="solid"/>
          </a:ln>
        </p:spPr>
      </p:sp>
      <p:sp>
        <p:nvSpPr>
          <p:cNvPr id="45" name="Text 43"/>
          <p:cNvSpPr/>
          <p:nvPr/>
        </p:nvSpPr>
        <p:spPr>
          <a:xfrm>
            <a:off x="5148072" y="5632704"/>
            <a:ext cx="1207008" cy="182880"/>
          </a:xfrm>
          <a:prstGeom prst="rect">
            <a:avLst/>
          </a:prstGeom>
          <a:noFill/>
          <a:ln/>
        </p:spPr>
        <p:txBody>
          <a:bodyPr wrap="square" lIns="0" tIns="0" rIns="0" bIns="0" rtlCol="0" anchor="ctr"/>
          <a:lstStyle/>
          <a:p>
            <a:pPr algn="ctr" indent="0" marL="0">
              <a:buNone/>
            </a:pPr>
            <a:r>
              <a:rPr lang="en-US" sz="1220" b="1" dirty="0">
                <a:solidFill>
                  <a:srgbClr val="17365D"/>
                </a:solidFill>
              </a:rPr>
              <a:t>16,391</a:t>
            </a:r>
            <a:endParaRPr lang="en-US" sz="1220" dirty="0"/>
          </a:p>
        </p:txBody>
      </p:sp>
      <p:sp>
        <p:nvSpPr>
          <p:cNvPr id="46" name="Text 44"/>
          <p:cNvSpPr/>
          <p:nvPr/>
        </p:nvSpPr>
        <p:spPr>
          <a:xfrm>
            <a:off x="5148072" y="5852160"/>
            <a:ext cx="1207008" cy="146304"/>
          </a:xfrm>
          <a:prstGeom prst="rect">
            <a:avLst/>
          </a:prstGeom>
          <a:noFill/>
          <a:ln/>
        </p:spPr>
        <p:txBody>
          <a:bodyPr wrap="square" lIns="0" tIns="0" rIns="0" bIns="0" rtlCol="0" anchor="ctr"/>
          <a:lstStyle/>
          <a:p>
            <a:pPr algn="ctr" indent="0" marL="0">
              <a:buNone/>
            </a:pPr>
            <a:r>
              <a:rPr lang="en-US" sz="680" dirty="0">
                <a:solidFill>
                  <a:srgbClr val="5F6B76"/>
                </a:solidFill>
              </a:rPr>
              <a:t>attack chains</a:t>
            </a:r>
            <a:endParaRPr lang="en-US" sz="680" dirty="0"/>
          </a:p>
        </p:txBody>
      </p:sp>
      <p:pic>
        <p:nvPicPr>
          <p:cNvPr id="4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360920" y="4023360"/>
            <a:ext cx="1170432" cy="1170432"/>
          </a:xfrm>
          <a:prstGeom prst="rect">
            <a:avLst/>
          </a:prstGeom>
        </p:spPr>
      </p:pic>
      <p:sp>
        <p:nvSpPr>
          <p:cNvPr id="48" name="Text 45"/>
          <p:cNvSpPr/>
          <p:nvPr/>
        </p:nvSpPr>
        <p:spPr>
          <a:xfrm>
            <a:off x="8622792" y="3291840"/>
            <a:ext cx="4389120" cy="2249424"/>
          </a:xfrm>
          <a:prstGeom prst="rect">
            <a:avLst/>
          </a:prstGeom>
          <a:noFill/>
          <a:ln/>
        </p:spPr>
        <p:txBody>
          <a:bodyPr wrap="square" lIns="381" tIns="381" rIns="381" bIns="381" rtlCol="0" anchor="t">
            <a:normAutofit/>
          </a:bodyPr>
          <a:lstStyle/>
          <a:p>
            <a:pPr algn="l" indent="0" marL="0">
              <a:lnSpc>
                <a:spcPct val="96000"/>
              </a:lnSpc>
              <a:buNone/>
            </a:pPr>
            <a:r>
              <a:rPr lang="en-US" sz="935" dirty="0">
                <a:solidFill>
                  <a:srgbClr val="1E2933"/>
                </a:solidFill>
                <a:latin typeface="Liberation Sans" pitchFamily="34" charset="0"/>
                <a:ea typeface="Liberation Sans" pitchFamily="34" charset="-122"/>
                <a:cs typeface="Liberation Sans" pitchFamily="34" charset="-120"/>
              </a:rPr>
              <a:t>Enterprise security often prioritizes initial compromise through firewalls, multifactor authentication, and intrusion prevention. After an attacker obtains valid credentials, subsequent activity can resemble normal employee or administrator behavior.</a:t>
            </a:r>
            <a:endParaRPr lang="en-US" sz="935" dirty="0"/>
          </a:p>
          <a:p>
            <a:pPr algn="l" indent="0" marL="0">
              <a:lnSpc>
                <a:spcPct val="96000"/>
              </a:lnSpc>
              <a:buNone/>
            </a:pPr>
            <a:endParaRPr lang="en-US" sz="935" dirty="0"/>
          </a:p>
          <a:p>
            <a:pPr algn="l" indent="0" marL="0">
              <a:lnSpc>
                <a:spcPct val="96000"/>
              </a:lnSpc>
              <a:buNone/>
            </a:pPr>
            <a:r>
              <a:rPr lang="en-US" sz="935" dirty="0">
                <a:solidFill>
                  <a:srgbClr val="1E2933"/>
                </a:solidFill>
                <a:latin typeface="Liberation Sans" pitchFamily="34" charset="0"/>
                <a:ea typeface="Liberation Sans" pitchFamily="34" charset="-122"/>
                <a:cs typeface="Liberation Sans" pitchFamily="34" charset="-120"/>
              </a:rPr>
              <a:t>Lateral movement is the bridge from one compromised endpoint to wider enterprise access. Static rules can over-alert on benign novelty or miss pivots that reuse familiar systems in an unusual order.</a:t>
            </a:r>
            <a:endParaRPr lang="en-US" sz="935" dirty="0"/>
          </a:p>
          <a:p>
            <a:pPr algn="l" indent="0" marL="0">
              <a:lnSpc>
                <a:spcPct val="96000"/>
              </a:lnSpc>
              <a:buNone/>
            </a:pPr>
            <a:endParaRPr lang="en-US" sz="935" dirty="0"/>
          </a:p>
          <a:p>
            <a:pPr algn="l" indent="0" marL="0">
              <a:lnSpc>
                <a:spcPct val="96000"/>
              </a:lnSpc>
              <a:buNone/>
            </a:pPr>
            <a:r>
              <a:rPr lang="en-US" sz="935" dirty="0">
                <a:solidFill>
                  <a:srgbClr val="1E2933"/>
                </a:solidFill>
                <a:latin typeface="Liberation Sans" pitchFamily="34" charset="0"/>
                <a:ea typeface="Liberation Sans" pitchFamily="34" charset="-122"/>
                <a:cs typeface="Liberation Sans" pitchFamily="34" charset="-120"/>
              </a:rPr>
              <a:t>This study asks a narrow question: on a controlled synthetic benchmark, does relational context improve separation between benign and malicious authentication events when both detectors receive the same alert budget?</a:t>
            </a:r>
            <a:endParaRPr lang="en-US" sz="935" dirty="0"/>
          </a:p>
        </p:txBody>
      </p:sp>
      <p:sp>
        <p:nvSpPr>
          <p:cNvPr id="49" name="Shape 46"/>
          <p:cNvSpPr/>
          <p:nvPr/>
        </p:nvSpPr>
        <p:spPr>
          <a:xfrm>
            <a:off x="7370064" y="5650992"/>
            <a:ext cx="5468112" cy="576072"/>
          </a:xfrm>
          <a:prstGeom prst="roundRect">
            <a:avLst>
              <a:gd name="adj" fmla="val 4762"/>
            </a:avLst>
          </a:prstGeom>
          <a:solidFill>
            <a:srgbClr val="DCECF8"/>
          </a:solidFill>
          <a:ln w="10160">
            <a:solidFill>
              <a:srgbClr val="2E77B8"/>
            </a:solidFill>
            <a:prstDash val="solid"/>
          </a:ln>
        </p:spPr>
      </p:sp>
      <p:sp>
        <p:nvSpPr>
          <p:cNvPr id="50" name="Text 47"/>
          <p:cNvSpPr/>
          <p:nvPr/>
        </p:nvSpPr>
        <p:spPr>
          <a:xfrm>
            <a:off x="7589520" y="5824728"/>
            <a:ext cx="5029200" cy="164592"/>
          </a:xfrm>
          <a:prstGeom prst="rect">
            <a:avLst/>
          </a:prstGeom>
          <a:noFill/>
          <a:ln/>
        </p:spPr>
        <p:txBody>
          <a:bodyPr wrap="square" lIns="0" tIns="0" rIns="0" bIns="0" rtlCol="0" anchor="ctr"/>
          <a:lstStyle/>
          <a:p>
            <a:pPr algn="ctr" indent="0" marL="0">
              <a:buNone/>
            </a:pPr>
            <a:r>
              <a:rPr lang="en-US" sz="810" b="1" dirty="0">
                <a:solidFill>
                  <a:srgbClr val="17365D"/>
                </a:solidFill>
              </a:rPr>
              <a:t>Research question: does relational context improve detection under the same alert budget?</a:t>
            </a:r>
            <a:endParaRPr lang="en-US" sz="810" dirty="0"/>
          </a:p>
        </p:txBody>
      </p:sp>
      <p:pic>
        <p:nvPicPr>
          <p:cNvPr id="5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52678" y="7616952"/>
            <a:ext cx="672084" cy="768096"/>
          </a:xfrm>
          <a:prstGeom prst="rect">
            <a:avLst/>
          </a:prstGeom>
        </p:spPr>
      </p:pic>
      <p:pic>
        <p:nvPicPr>
          <p:cNvPr id="5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96112" y="9033256"/>
            <a:ext cx="640080" cy="568960"/>
          </a:xfrm>
          <a:prstGeom prst="rect">
            <a:avLst/>
          </a:prstGeom>
        </p:spPr>
      </p:pic>
      <p:pic>
        <p:nvPicPr>
          <p:cNvPr id="5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66928" y="10168128"/>
            <a:ext cx="512064" cy="512064"/>
          </a:xfrm>
          <a:prstGeom prst="rect">
            <a:avLst/>
          </a:prstGeom>
        </p:spPr>
      </p:pic>
      <p:pic>
        <p:nvPicPr>
          <p:cNvPr id="54"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380744" y="10168128"/>
            <a:ext cx="512064" cy="512064"/>
          </a:xfrm>
          <a:prstGeom prst="rect">
            <a:avLst/>
          </a:prstGeom>
        </p:spPr>
      </p:pic>
      <p:sp>
        <p:nvSpPr>
          <p:cNvPr id="55" name="Shape 48"/>
          <p:cNvSpPr/>
          <p:nvPr/>
        </p:nvSpPr>
        <p:spPr>
          <a:xfrm>
            <a:off x="1179576" y="8412480"/>
            <a:ext cx="0" cy="484632"/>
          </a:xfrm>
          <a:prstGeom prst="line">
            <a:avLst/>
          </a:prstGeom>
          <a:noFill/>
          <a:ln w="17780">
            <a:solidFill>
              <a:srgbClr val="D9534F"/>
            </a:solidFill>
            <a:prstDash val="solid"/>
            <a:headEnd type="none"/>
            <a:tailEnd type="triangle"/>
          </a:ln>
        </p:spPr>
      </p:sp>
      <p:sp>
        <p:nvSpPr>
          <p:cNvPr id="56" name="Shape 49"/>
          <p:cNvSpPr/>
          <p:nvPr/>
        </p:nvSpPr>
        <p:spPr>
          <a:xfrm>
            <a:off x="1179576" y="9674352"/>
            <a:ext cx="-356616" cy="429768"/>
          </a:xfrm>
          <a:prstGeom prst="line">
            <a:avLst/>
          </a:prstGeom>
          <a:noFill/>
          <a:ln w="15240">
            <a:solidFill>
              <a:srgbClr val="17365D"/>
            </a:solidFill>
            <a:prstDash val="solid"/>
          </a:ln>
        </p:spPr>
      </p:sp>
      <p:sp>
        <p:nvSpPr>
          <p:cNvPr id="57" name="Shape 50"/>
          <p:cNvSpPr/>
          <p:nvPr/>
        </p:nvSpPr>
        <p:spPr>
          <a:xfrm>
            <a:off x="1179576" y="9674352"/>
            <a:ext cx="466344" cy="429768"/>
          </a:xfrm>
          <a:prstGeom prst="line">
            <a:avLst/>
          </a:prstGeom>
          <a:noFill/>
          <a:ln w="15240">
            <a:solidFill>
              <a:srgbClr val="17365D"/>
            </a:solidFill>
            <a:prstDash val="solid"/>
          </a:ln>
        </p:spPr>
      </p:sp>
      <p:sp>
        <p:nvSpPr>
          <p:cNvPr id="58" name="Text 51"/>
          <p:cNvSpPr/>
          <p:nvPr/>
        </p:nvSpPr>
        <p:spPr>
          <a:xfrm>
            <a:off x="1847088" y="7552944"/>
            <a:ext cx="2871216" cy="3273552"/>
          </a:xfrm>
          <a:prstGeom prst="rect">
            <a:avLst/>
          </a:prstGeom>
          <a:noFill/>
          <a:ln/>
        </p:spPr>
        <p:txBody>
          <a:bodyPr wrap="square" lIns="381" tIns="381" rIns="381" bIns="381" rtlCol="0" anchor="t">
            <a:normAutofit/>
          </a:bodyPr>
          <a:lstStyle/>
          <a:p>
            <a:pPr algn="l" indent="0" marL="0">
              <a:lnSpc>
                <a:spcPct val="95000"/>
              </a:lnSpc>
              <a:buNone/>
            </a:pPr>
            <a:r>
              <a:rPr lang="en-US" sz="865" dirty="0">
                <a:solidFill>
                  <a:srgbClr val="1E2933"/>
                </a:solidFill>
                <a:latin typeface="Liberation Sans" pitchFamily="34" charset="0"/>
                <a:ea typeface="Liberation Sans" pitchFamily="34" charset="-122"/>
                <a:cs typeface="Liberation Sans" pitchFamily="34" charset="-120"/>
              </a:rPr>
              <a:t>Credential-based attacks are difficult to detect after compromise because stolen credentials can produce technically valid logins. Attackers can pivot through ordinary workstations and servers while appearing similar to legitimate administrative activity.</a:t>
            </a:r>
            <a:endParaRPr lang="en-US" sz="865" dirty="0"/>
          </a:p>
          <a:p>
            <a:pPr algn="l" indent="0" marL="0">
              <a:lnSpc>
                <a:spcPct val="95000"/>
              </a:lnSpc>
              <a:buNone/>
            </a:pPr>
            <a:endParaRPr lang="en-US" sz="865" dirty="0"/>
          </a:p>
          <a:p>
            <a:pPr algn="l" indent="0" marL="0">
              <a:lnSpc>
                <a:spcPct val="95000"/>
              </a:lnSpc>
              <a:buNone/>
            </a:pPr>
            <a:r>
              <a:rPr lang="en-US" sz="865" dirty="0">
                <a:solidFill>
                  <a:srgbClr val="1E2933"/>
                </a:solidFill>
                <a:latin typeface="Liberation Sans" pitchFamily="34" charset="0"/>
                <a:ea typeface="Liberation Sans" pitchFamily="34" charset="-122"/>
                <a:cs typeface="Liberation Sans" pitchFamily="34" charset="-120"/>
              </a:rPr>
              <a:t>Entry-point controls such as IP blocking and account lockouts do not directly model the sequence or relational context of internal movement. This can create high false-positive volume while still missing low-and-slow pivots.</a:t>
            </a:r>
            <a:endParaRPr lang="en-US" sz="865" dirty="0"/>
          </a:p>
        </p:txBody>
      </p:sp>
      <p:sp>
        <p:nvSpPr>
          <p:cNvPr id="59" name="Text 52"/>
          <p:cNvSpPr/>
          <p:nvPr/>
        </p:nvSpPr>
        <p:spPr>
          <a:xfrm>
            <a:off x="621792" y="11109960"/>
            <a:ext cx="4169664" cy="1389888"/>
          </a:xfrm>
          <a:prstGeom prst="rect">
            <a:avLst/>
          </a:prstGeom>
          <a:noFill/>
          <a:ln/>
        </p:spPr>
        <p:txBody>
          <a:bodyPr wrap="square" lIns="381" tIns="381" rIns="381" bIns="381" rtlCol="0" anchor="t">
            <a:normAutofit/>
          </a:bodyPr>
          <a:lstStyle/>
          <a:p>
            <a:pPr algn="l" indent="0" marL="0">
              <a:lnSpc>
                <a:spcPct val="95000"/>
              </a:lnSpc>
              <a:buNone/>
            </a:pPr>
            <a:r>
              <a:rPr lang="en-US" sz="875" dirty="0">
                <a:solidFill>
                  <a:srgbClr val="1E2933"/>
                </a:solidFill>
                <a:latin typeface="Liberation Sans" pitchFamily="34" charset="0"/>
                <a:ea typeface="Liberation Sans" pitchFamily="34" charset="-122"/>
                <a:cs typeface="Liberation Sans" pitchFamily="34" charset="-120"/>
              </a:rPr>
              <a:t>The central challenge is balancing detection effectiveness with analyst usability. Event-level novelty can be benign, while a familiar host may become suspicious when it appears in an unusual path, sequence, or burst of activity. This motivates models that consider who normally accesses which systems and how those relationships change over time.</a:t>
            </a:r>
            <a:endParaRPr lang="en-US" sz="875" dirty="0"/>
          </a:p>
        </p:txBody>
      </p:sp>
      <p:sp>
        <p:nvSpPr>
          <p:cNvPr id="60" name="Shape 53"/>
          <p:cNvSpPr/>
          <p:nvPr/>
        </p:nvSpPr>
        <p:spPr>
          <a:xfrm>
            <a:off x="603504" y="12582144"/>
            <a:ext cx="4187952" cy="2029968"/>
          </a:xfrm>
          <a:prstGeom prst="roundRect">
            <a:avLst>
              <a:gd name="adj" fmla="val 1802"/>
            </a:avLst>
          </a:prstGeom>
          <a:solidFill>
            <a:srgbClr val="DCECF8"/>
          </a:solidFill>
          <a:ln w="11430">
            <a:solidFill>
              <a:srgbClr val="2E77B8"/>
            </a:solidFill>
            <a:prstDash val="solid"/>
          </a:ln>
        </p:spPr>
      </p:sp>
      <p:sp>
        <p:nvSpPr>
          <p:cNvPr id="61" name="Text 54"/>
          <p:cNvSpPr/>
          <p:nvPr/>
        </p:nvSpPr>
        <p:spPr>
          <a:xfrm>
            <a:off x="768096" y="12746736"/>
            <a:ext cx="3566160" cy="201168"/>
          </a:xfrm>
          <a:prstGeom prst="rect">
            <a:avLst/>
          </a:prstGeom>
          <a:noFill/>
          <a:ln/>
        </p:spPr>
        <p:txBody>
          <a:bodyPr wrap="square" lIns="0" tIns="0" rIns="0" bIns="0" rtlCol="0" anchor="ctr"/>
          <a:lstStyle/>
          <a:p>
            <a:pPr indent="0" marL="0">
              <a:buNone/>
            </a:pPr>
            <a:r>
              <a:rPr lang="en-US" sz="920" b="1" dirty="0">
                <a:solidFill>
                  <a:srgbClr val="2E77B8"/>
                </a:solidFill>
                <a:latin typeface="Liberation Sans" pitchFamily="34" charset="0"/>
                <a:ea typeface="Liberation Sans" pitchFamily="34" charset="-122"/>
                <a:cs typeface="Liberation Sans" pitchFamily="34" charset="-120"/>
              </a:rPr>
              <a:t>Techniques represented in the dataset</a:t>
            </a:r>
            <a:endParaRPr lang="en-US" sz="920" dirty="0"/>
          </a:p>
        </p:txBody>
      </p:sp>
      <p:sp>
        <p:nvSpPr>
          <p:cNvPr id="62" name="Text 55"/>
          <p:cNvSpPr/>
          <p:nvPr/>
        </p:nvSpPr>
        <p:spPr>
          <a:xfrm>
            <a:off x="786384" y="13075920"/>
            <a:ext cx="3675888" cy="1316736"/>
          </a:xfrm>
          <a:prstGeom prst="rect">
            <a:avLst/>
          </a:prstGeom>
          <a:noFill/>
          <a:ln/>
        </p:spPr>
        <p:txBody>
          <a:bodyPr wrap="square" lIns="381" tIns="381" rIns="381" bIns="381" rtlCol="0" anchor="t">
            <a:normAutofit/>
          </a:bodyPr>
          <a:lstStyle/>
          <a:p>
            <a:pPr algn="l" indent="0" marL="0">
              <a:lnSpc>
                <a:spcPct val="95000"/>
              </a:lnSpc>
              <a:buNone/>
            </a:pPr>
            <a:r>
              <a:rPr lang="en-US" sz="755" dirty="0">
                <a:solidFill>
                  <a:srgbClr val="1E2933"/>
                </a:solidFill>
                <a:latin typeface="Liberation Sans" pitchFamily="34" charset="0"/>
                <a:ea typeface="Liberation Sans" pitchFamily="34" charset="-122"/>
                <a:cs typeface="Liberation Sans" pitchFamily="34" charset="-120"/>
              </a:rPr>
              <a:t>T1078 Valid Accounts</a:t>
            </a:r>
            <a:endParaRPr lang="en-US" sz="755" dirty="0"/>
          </a:p>
          <a:p>
            <a:pPr algn="l" indent="0" marL="0">
              <a:lnSpc>
                <a:spcPct val="95000"/>
              </a:lnSpc>
              <a:buNone/>
            </a:pPr>
            <a:r>
              <a:rPr lang="en-US" sz="755" dirty="0">
                <a:solidFill>
                  <a:srgbClr val="1E2933"/>
                </a:solidFill>
                <a:latin typeface="Liberation Sans" pitchFamily="34" charset="0"/>
                <a:ea typeface="Liberation Sans" pitchFamily="34" charset="-122"/>
                <a:cs typeface="Liberation Sans" pitchFamily="34" charset="-120"/>
              </a:rPr>
              <a:t>Use of stolen or otherwise compromised credentials.</a:t>
            </a:r>
            <a:endParaRPr lang="en-US" sz="755" dirty="0"/>
          </a:p>
          <a:p>
            <a:pPr algn="l" indent="0" marL="0">
              <a:lnSpc>
                <a:spcPct val="95000"/>
              </a:lnSpc>
              <a:buNone/>
            </a:pPr>
            <a:endParaRPr lang="en-US" sz="755" dirty="0"/>
          </a:p>
          <a:p>
            <a:pPr algn="l" indent="0" marL="0">
              <a:lnSpc>
                <a:spcPct val="95000"/>
              </a:lnSpc>
              <a:buNone/>
            </a:pPr>
            <a:r>
              <a:rPr lang="en-US" sz="755" dirty="0">
                <a:solidFill>
                  <a:srgbClr val="1E2933"/>
                </a:solidFill>
                <a:latin typeface="Liberation Sans" pitchFamily="34" charset="0"/>
                <a:ea typeface="Liberation Sans" pitchFamily="34" charset="-122"/>
                <a:cs typeface="Liberation Sans" pitchFamily="34" charset="-120"/>
              </a:rPr>
              <a:t>T1021 Remote Services</a:t>
            </a:r>
            <a:endParaRPr lang="en-US" sz="755" dirty="0"/>
          </a:p>
          <a:p>
            <a:pPr algn="l" indent="0" marL="0">
              <a:lnSpc>
                <a:spcPct val="95000"/>
              </a:lnSpc>
              <a:buNone/>
            </a:pPr>
            <a:r>
              <a:rPr lang="en-US" sz="755" dirty="0">
                <a:solidFill>
                  <a:srgbClr val="1E2933"/>
                </a:solidFill>
                <a:latin typeface="Liberation Sans" pitchFamily="34" charset="0"/>
                <a:ea typeface="Liberation Sans" pitchFamily="34" charset="-122"/>
                <a:cs typeface="Liberation Sans" pitchFamily="34" charset="-120"/>
              </a:rPr>
              <a:t>Lateral movement through internal remote-access services.</a:t>
            </a:r>
            <a:endParaRPr lang="en-US" sz="755" dirty="0"/>
          </a:p>
          <a:p>
            <a:pPr algn="l" indent="0" marL="0">
              <a:lnSpc>
                <a:spcPct val="95000"/>
              </a:lnSpc>
              <a:buNone/>
            </a:pPr>
            <a:endParaRPr lang="en-US" sz="755" dirty="0"/>
          </a:p>
          <a:p>
            <a:pPr algn="l" indent="0" marL="0">
              <a:lnSpc>
                <a:spcPct val="95000"/>
              </a:lnSpc>
              <a:buNone/>
            </a:pPr>
            <a:r>
              <a:rPr lang="en-US" sz="755" dirty="0">
                <a:solidFill>
                  <a:srgbClr val="1E2933"/>
                </a:solidFill>
                <a:latin typeface="Liberation Sans" pitchFamily="34" charset="0"/>
                <a:ea typeface="Liberation Sans" pitchFamily="34" charset="-122"/>
                <a:cs typeface="Liberation Sans" pitchFamily="34" charset="-120"/>
              </a:rPr>
              <a:t>High-value target</a:t>
            </a:r>
            <a:endParaRPr lang="en-US" sz="755" dirty="0"/>
          </a:p>
          <a:p>
            <a:pPr algn="l" indent="0" marL="0">
              <a:lnSpc>
                <a:spcPct val="95000"/>
              </a:lnSpc>
              <a:buNone/>
            </a:pPr>
            <a:r>
              <a:rPr lang="en-US" sz="755" dirty="0">
                <a:solidFill>
                  <a:srgbClr val="1E2933"/>
                </a:solidFill>
                <a:latin typeface="Liberation Sans" pitchFamily="34" charset="0"/>
                <a:ea typeface="Liberation Sans" pitchFamily="34" charset="-122"/>
                <a:cs typeface="Liberation Sans" pitchFamily="34" charset="-120"/>
              </a:rPr>
              <a:t>A simulated domain controller named DC-01.</a:t>
            </a:r>
            <a:endParaRPr lang="en-US" sz="755" dirty="0"/>
          </a:p>
        </p:txBody>
      </p:sp>
      <p:sp>
        <p:nvSpPr>
          <p:cNvPr id="63" name="Text 56"/>
          <p:cNvSpPr/>
          <p:nvPr/>
        </p:nvSpPr>
        <p:spPr>
          <a:xfrm>
            <a:off x="5504688" y="7470648"/>
            <a:ext cx="2194560" cy="201168"/>
          </a:xfrm>
          <a:prstGeom prst="rect">
            <a:avLst/>
          </a:prstGeom>
          <a:noFill/>
          <a:ln/>
        </p:spPr>
        <p:txBody>
          <a:bodyPr wrap="square" lIns="0" tIns="0" rIns="0" bIns="0" rtlCol="0" anchor="ctr"/>
          <a:lstStyle/>
          <a:p>
            <a:pPr indent="0" marL="0">
              <a:buNone/>
            </a:pPr>
            <a:r>
              <a:rPr lang="en-US" sz="920" b="1" dirty="0">
                <a:solidFill>
                  <a:srgbClr val="2E77B8"/>
                </a:solidFill>
                <a:latin typeface="Liberation Sans" pitchFamily="34" charset="0"/>
                <a:ea typeface="Liberation Sans" pitchFamily="34" charset="-122"/>
                <a:cs typeface="Liberation Sans" pitchFamily="34" charset="-120"/>
              </a:rPr>
              <a:t>A. Detection Pipeline</a:t>
            </a:r>
            <a:endParaRPr lang="en-US" sz="920" dirty="0"/>
          </a:p>
        </p:txBody>
      </p:sp>
      <p:sp>
        <p:nvSpPr>
          <p:cNvPr id="64" name="Shape 57"/>
          <p:cNvSpPr/>
          <p:nvPr/>
        </p:nvSpPr>
        <p:spPr>
          <a:xfrm>
            <a:off x="5650992" y="7863840"/>
            <a:ext cx="1207008" cy="1078992"/>
          </a:xfrm>
          <a:prstGeom prst="roundRect">
            <a:avLst>
              <a:gd name="adj" fmla="val 3390"/>
            </a:avLst>
          </a:prstGeom>
          <a:solidFill>
            <a:srgbClr val="DCECF8"/>
          </a:solidFill>
          <a:ln w="12700">
            <a:solidFill>
              <a:srgbClr val="2E77B8"/>
            </a:solidFill>
            <a:prstDash val="solid"/>
          </a:ln>
        </p:spPr>
      </p:sp>
      <p:sp>
        <p:nvSpPr>
          <p:cNvPr id="65" name="Text 58"/>
          <p:cNvSpPr/>
          <p:nvPr/>
        </p:nvSpPr>
        <p:spPr>
          <a:xfrm>
            <a:off x="5724144" y="7973568"/>
            <a:ext cx="1060704" cy="292608"/>
          </a:xfrm>
          <a:prstGeom prst="rect">
            <a:avLst/>
          </a:prstGeom>
          <a:noFill/>
          <a:ln/>
        </p:spPr>
        <p:txBody>
          <a:bodyPr wrap="square" lIns="0" tIns="0" rIns="0" bIns="0" rtlCol="0" anchor="ctr">
            <a:normAutofit/>
          </a:bodyPr>
          <a:lstStyle/>
          <a:p>
            <a:pPr algn="ctr" indent="0" marL="0">
              <a:buNone/>
            </a:pPr>
            <a:r>
              <a:rPr lang="en-US" sz="740" b="1" dirty="0">
                <a:solidFill>
                  <a:srgbClr val="17365D"/>
                </a:solidFill>
              </a:rPr>
              <a:t>Authentication</a:t>
            </a:r>
            <a:endParaRPr lang="en-US" sz="740" dirty="0"/>
          </a:p>
          <a:p>
            <a:pPr algn="ctr" indent="0" marL="0">
              <a:buNone/>
            </a:pPr>
            <a:r>
              <a:rPr lang="en-US" sz="740" b="1" dirty="0">
                <a:solidFill>
                  <a:srgbClr val="17365D"/>
                </a:solidFill>
              </a:rPr>
              <a:t>Logs</a:t>
            </a:r>
            <a:endParaRPr lang="en-US" sz="740" dirty="0"/>
          </a:p>
        </p:txBody>
      </p:sp>
      <p:pic>
        <p:nvPicPr>
          <p:cNvPr id="66"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096762" y="8311896"/>
            <a:ext cx="315468" cy="420624"/>
          </a:xfrm>
          <a:prstGeom prst="rect">
            <a:avLst/>
          </a:prstGeom>
        </p:spPr>
      </p:pic>
      <p:sp>
        <p:nvSpPr>
          <p:cNvPr id="67" name="Shape 59"/>
          <p:cNvSpPr/>
          <p:nvPr/>
        </p:nvSpPr>
        <p:spPr>
          <a:xfrm>
            <a:off x="6858000" y="8403336"/>
            <a:ext cx="365760" cy="0"/>
          </a:xfrm>
          <a:prstGeom prst="line">
            <a:avLst/>
          </a:prstGeom>
          <a:noFill/>
          <a:ln w="19050">
            <a:solidFill>
              <a:srgbClr val="17365D"/>
            </a:solidFill>
            <a:prstDash val="solid"/>
            <a:tailEnd type="triangle"/>
          </a:ln>
        </p:spPr>
      </p:sp>
      <p:sp>
        <p:nvSpPr>
          <p:cNvPr id="68" name="Shape 60"/>
          <p:cNvSpPr/>
          <p:nvPr/>
        </p:nvSpPr>
        <p:spPr>
          <a:xfrm>
            <a:off x="7223760" y="7863840"/>
            <a:ext cx="1207008" cy="1078992"/>
          </a:xfrm>
          <a:prstGeom prst="roundRect">
            <a:avLst>
              <a:gd name="adj" fmla="val 3390"/>
            </a:avLst>
          </a:prstGeom>
          <a:solidFill>
            <a:srgbClr val="E7F3E7"/>
          </a:solidFill>
          <a:ln w="12700">
            <a:solidFill>
              <a:srgbClr val="4E9B50"/>
            </a:solidFill>
            <a:prstDash val="solid"/>
          </a:ln>
        </p:spPr>
      </p:sp>
      <p:sp>
        <p:nvSpPr>
          <p:cNvPr id="69" name="Text 61"/>
          <p:cNvSpPr/>
          <p:nvPr/>
        </p:nvSpPr>
        <p:spPr>
          <a:xfrm>
            <a:off x="7296912" y="7973568"/>
            <a:ext cx="1060704" cy="292608"/>
          </a:xfrm>
          <a:prstGeom prst="rect">
            <a:avLst/>
          </a:prstGeom>
          <a:noFill/>
          <a:ln/>
        </p:spPr>
        <p:txBody>
          <a:bodyPr wrap="square" lIns="0" tIns="0" rIns="0" bIns="0" rtlCol="0" anchor="ctr">
            <a:normAutofit/>
          </a:bodyPr>
          <a:lstStyle/>
          <a:p>
            <a:pPr algn="ctr" indent="0" marL="0">
              <a:buNone/>
            </a:pPr>
            <a:r>
              <a:rPr lang="en-US" sz="740" b="1" dirty="0">
                <a:solidFill>
                  <a:srgbClr val="17365D"/>
                </a:solidFill>
              </a:rPr>
              <a:t>Feature</a:t>
            </a:r>
            <a:endParaRPr lang="en-US" sz="740" dirty="0"/>
          </a:p>
          <a:p>
            <a:pPr algn="ctr" indent="0" marL="0">
              <a:buNone/>
            </a:pPr>
            <a:r>
              <a:rPr lang="en-US" sz="740" b="1" dirty="0">
                <a:solidFill>
                  <a:srgbClr val="17365D"/>
                </a:solidFill>
              </a:rPr>
              <a:t>Extraction</a:t>
            </a:r>
            <a:endParaRPr lang="en-US" sz="740" dirty="0"/>
          </a:p>
        </p:txBody>
      </p:sp>
      <p:pic>
        <p:nvPicPr>
          <p:cNvPr id="70"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616952" y="8311896"/>
            <a:ext cx="420624" cy="420624"/>
          </a:xfrm>
          <a:prstGeom prst="rect">
            <a:avLst/>
          </a:prstGeom>
        </p:spPr>
      </p:pic>
      <p:sp>
        <p:nvSpPr>
          <p:cNvPr id="71" name="Shape 62"/>
          <p:cNvSpPr/>
          <p:nvPr/>
        </p:nvSpPr>
        <p:spPr>
          <a:xfrm>
            <a:off x="8430768" y="8403336"/>
            <a:ext cx="365760" cy="0"/>
          </a:xfrm>
          <a:prstGeom prst="line">
            <a:avLst/>
          </a:prstGeom>
          <a:noFill/>
          <a:ln w="19050">
            <a:solidFill>
              <a:srgbClr val="17365D"/>
            </a:solidFill>
            <a:prstDash val="solid"/>
            <a:tailEnd type="triangle"/>
          </a:ln>
        </p:spPr>
      </p:sp>
      <p:sp>
        <p:nvSpPr>
          <p:cNvPr id="72" name="Shape 63"/>
          <p:cNvSpPr/>
          <p:nvPr/>
        </p:nvSpPr>
        <p:spPr>
          <a:xfrm>
            <a:off x="8796528" y="7863840"/>
            <a:ext cx="1207008" cy="1078992"/>
          </a:xfrm>
          <a:prstGeom prst="roundRect">
            <a:avLst>
              <a:gd name="adj" fmla="val 3390"/>
            </a:avLst>
          </a:prstGeom>
          <a:solidFill>
            <a:srgbClr val="EEEAFB"/>
          </a:solidFill>
          <a:ln w="12700">
            <a:solidFill>
              <a:srgbClr val="7566C4"/>
            </a:solidFill>
            <a:prstDash val="solid"/>
          </a:ln>
        </p:spPr>
      </p:sp>
      <p:sp>
        <p:nvSpPr>
          <p:cNvPr id="73" name="Text 64"/>
          <p:cNvSpPr/>
          <p:nvPr/>
        </p:nvSpPr>
        <p:spPr>
          <a:xfrm>
            <a:off x="8869680" y="7973568"/>
            <a:ext cx="1060704" cy="292608"/>
          </a:xfrm>
          <a:prstGeom prst="rect">
            <a:avLst/>
          </a:prstGeom>
          <a:noFill/>
          <a:ln/>
        </p:spPr>
        <p:txBody>
          <a:bodyPr wrap="square" lIns="0" tIns="0" rIns="0" bIns="0" rtlCol="0" anchor="ctr">
            <a:normAutofit/>
          </a:bodyPr>
          <a:lstStyle/>
          <a:p>
            <a:pPr algn="ctr" indent="0" marL="0">
              <a:buNone/>
            </a:pPr>
            <a:r>
              <a:rPr lang="en-US" sz="740" b="1" dirty="0">
                <a:solidFill>
                  <a:srgbClr val="17365D"/>
                </a:solidFill>
              </a:rPr>
              <a:t>Graph-Assisted</a:t>
            </a:r>
            <a:endParaRPr lang="en-US" sz="740" dirty="0"/>
          </a:p>
          <a:p>
            <a:pPr algn="ctr" indent="0" marL="0">
              <a:buNone/>
            </a:pPr>
            <a:r>
              <a:rPr lang="en-US" sz="740" b="1" dirty="0">
                <a:solidFill>
                  <a:srgbClr val="17365D"/>
                </a:solidFill>
              </a:rPr>
              <a:t>Model</a:t>
            </a:r>
            <a:endParaRPr lang="en-US" sz="740" dirty="0"/>
          </a:p>
        </p:txBody>
      </p:sp>
      <p:pic>
        <p:nvPicPr>
          <p:cNvPr id="74"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9189720" y="8335264"/>
            <a:ext cx="420624" cy="373888"/>
          </a:xfrm>
          <a:prstGeom prst="rect">
            <a:avLst/>
          </a:prstGeom>
        </p:spPr>
      </p:pic>
      <p:sp>
        <p:nvSpPr>
          <p:cNvPr id="75" name="Shape 65"/>
          <p:cNvSpPr/>
          <p:nvPr/>
        </p:nvSpPr>
        <p:spPr>
          <a:xfrm>
            <a:off x="10003536" y="8403336"/>
            <a:ext cx="365760" cy="0"/>
          </a:xfrm>
          <a:prstGeom prst="line">
            <a:avLst/>
          </a:prstGeom>
          <a:noFill/>
          <a:ln w="19050">
            <a:solidFill>
              <a:srgbClr val="17365D"/>
            </a:solidFill>
            <a:prstDash val="solid"/>
            <a:tailEnd type="triangle"/>
          </a:ln>
        </p:spPr>
      </p:sp>
      <p:sp>
        <p:nvSpPr>
          <p:cNvPr id="76" name="Shape 66"/>
          <p:cNvSpPr/>
          <p:nvPr/>
        </p:nvSpPr>
        <p:spPr>
          <a:xfrm>
            <a:off x="10369296" y="7863840"/>
            <a:ext cx="1207008" cy="1078992"/>
          </a:xfrm>
          <a:prstGeom prst="roundRect">
            <a:avLst>
              <a:gd name="adj" fmla="val 3390"/>
            </a:avLst>
          </a:prstGeom>
          <a:solidFill>
            <a:srgbClr val="FFF3DE"/>
          </a:solidFill>
          <a:ln w="12700">
            <a:solidFill>
              <a:srgbClr val="E59B33"/>
            </a:solidFill>
            <a:prstDash val="solid"/>
          </a:ln>
        </p:spPr>
      </p:sp>
      <p:sp>
        <p:nvSpPr>
          <p:cNvPr id="77" name="Text 67"/>
          <p:cNvSpPr/>
          <p:nvPr/>
        </p:nvSpPr>
        <p:spPr>
          <a:xfrm>
            <a:off x="10442448" y="7973568"/>
            <a:ext cx="1060704" cy="292608"/>
          </a:xfrm>
          <a:prstGeom prst="rect">
            <a:avLst/>
          </a:prstGeom>
          <a:noFill/>
          <a:ln/>
        </p:spPr>
        <p:txBody>
          <a:bodyPr wrap="square" lIns="0" tIns="0" rIns="0" bIns="0" rtlCol="0" anchor="ctr">
            <a:normAutofit/>
          </a:bodyPr>
          <a:lstStyle/>
          <a:p>
            <a:pPr algn="ctr" indent="0" marL="0">
              <a:buNone/>
            </a:pPr>
            <a:r>
              <a:rPr lang="en-US" sz="740" b="1" dirty="0">
                <a:solidFill>
                  <a:srgbClr val="17365D"/>
                </a:solidFill>
              </a:rPr>
              <a:t>Anomaly</a:t>
            </a:r>
            <a:endParaRPr lang="en-US" sz="740" dirty="0"/>
          </a:p>
          <a:p>
            <a:pPr algn="ctr" indent="0" marL="0">
              <a:buNone/>
            </a:pPr>
            <a:r>
              <a:rPr lang="en-US" sz="740" b="1" dirty="0">
                <a:solidFill>
                  <a:srgbClr val="17365D"/>
                </a:solidFill>
              </a:rPr>
              <a:t>Scoring</a:t>
            </a:r>
            <a:endParaRPr lang="en-US" sz="740" dirty="0"/>
          </a:p>
        </p:txBody>
      </p:sp>
      <p:pic>
        <p:nvPicPr>
          <p:cNvPr id="78" name="Image 8" descr="preencoded.png">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0762488" y="8311896"/>
            <a:ext cx="420624" cy="420624"/>
          </a:xfrm>
          <a:prstGeom prst="rect">
            <a:avLst/>
          </a:prstGeom>
        </p:spPr>
      </p:pic>
      <p:sp>
        <p:nvSpPr>
          <p:cNvPr id="79" name="Shape 68"/>
          <p:cNvSpPr/>
          <p:nvPr/>
        </p:nvSpPr>
        <p:spPr>
          <a:xfrm>
            <a:off x="11576304" y="8403336"/>
            <a:ext cx="365760" cy="0"/>
          </a:xfrm>
          <a:prstGeom prst="line">
            <a:avLst/>
          </a:prstGeom>
          <a:noFill/>
          <a:ln w="19050">
            <a:solidFill>
              <a:srgbClr val="17365D"/>
            </a:solidFill>
            <a:prstDash val="solid"/>
            <a:tailEnd type="triangle"/>
          </a:ln>
        </p:spPr>
      </p:sp>
      <p:sp>
        <p:nvSpPr>
          <p:cNvPr id="80" name="Shape 69"/>
          <p:cNvSpPr/>
          <p:nvPr/>
        </p:nvSpPr>
        <p:spPr>
          <a:xfrm>
            <a:off x="11942064" y="7863840"/>
            <a:ext cx="1207008" cy="1078992"/>
          </a:xfrm>
          <a:prstGeom prst="roundRect">
            <a:avLst>
              <a:gd name="adj" fmla="val 3390"/>
            </a:avLst>
          </a:prstGeom>
          <a:solidFill>
            <a:srgbClr val="FCE9E8"/>
          </a:solidFill>
          <a:ln w="12700">
            <a:solidFill>
              <a:srgbClr val="D9534F"/>
            </a:solidFill>
            <a:prstDash val="solid"/>
          </a:ln>
        </p:spPr>
      </p:sp>
      <p:sp>
        <p:nvSpPr>
          <p:cNvPr id="81" name="Text 70"/>
          <p:cNvSpPr/>
          <p:nvPr/>
        </p:nvSpPr>
        <p:spPr>
          <a:xfrm>
            <a:off x="12015216" y="7973568"/>
            <a:ext cx="1060704" cy="292608"/>
          </a:xfrm>
          <a:prstGeom prst="rect">
            <a:avLst/>
          </a:prstGeom>
          <a:noFill/>
          <a:ln/>
        </p:spPr>
        <p:txBody>
          <a:bodyPr wrap="square" lIns="0" tIns="0" rIns="0" bIns="0" rtlCol="0" anchor="ctr">
            <a:normAutofit/>
          </a:bodyPr>
          <a:lstStyle/>
          <a:p>
            <a:pPr algn="ctr" indent="0" marL="0">
              <a:buNone/>
            </a:pPr>
            <a:r>
              <a:rPr lang="en-US" sz="740" b="1" dirty="0">
                <a:solidFill>
                  <a:srgbClr val="17365D"/>
                </a:solidFill>
              </a:rPr>
              <a:t>Detection</a:t>
            </a:r>
            <a:endParaRPr lang="en-US" sz="740" dirty="0"/>
          </a:p>
          <a:p>
            <a:pPr algn="ctr" indent="0" marL="0">
              <a:buNone/>
            </a:pPr>
            <a:r>
              <a:rPr lang="en-US" sz="740" b="1" dirty="0">
                <a:solidFill>
                  <a:srgbClr val="17365D"/>
                </a:solidFill>
              </a:rPr>
              <a:t>Output</a:t>
            </a:r>
            <a:endParaRPr lang="en-US" sz="740" dirty="0"/>
          </a:p>
        </p:txBody>
      </p:sp>
      <p:pic>
        <p:nvPicPr>
          <p:cNvPr id="82" name="Image 9" descr="preencoded.png">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12335256" y="8311896"/>
            <a:ext cx="420624" cy="420624"/>
          </a:xfrm>
          <a:prstGeom prst="rect">
            <a:avLst/>
          </a:prstGeom>
        </p:spPr>
      </p:pic>
      <p:sp>
        <p:nvSpPr>
          <p:cNvPr id="83" name="Text 71"/>
          <p:cNvSpPr/>
          <p:nvPr/>
        </p:nvSpPr>
        <p:spPr>
          <a:xfrm>
            <a:off x="6784848" y="9052560"/>
            <a:ext cx="5029200" cy="182880"/>
          </a:xfrm>
          <a:prstGeom prst="rect">
            <a:avLst/>
          </a:prstGeom>
          <a:noFill/>
          <a:ln/>
        </p:spPr>
        <p:txBody>
          <a:bodyPr wrap="square" lIns="0" tIns="0" rIns="0" bIns="0" rtlCol="0" anchor="ctr"/>
          <a:lstStyle/>
          <a:p>
            <a:pPr algn="ctr" indent="0" marL="0">
              <a:buNone/>
            </a:pPr>
            <a:r>
              <a:rPr lang="en-US" sz="690" i="1" dirty="0">
                <a:solidFill>
                  <a:srgbClr val="5F6B76"/>
                </a:solidFill>
              </a:rPr>
              <a:t>Fig. 1. Analysis pipeline from authentication events to alert output.</a:t>
            </a:r>
            <a:endParaRPr lang="en-US" sz="690" dirty="0"/>
          </a:p>
        </p:txBody>
      </p:sp>
      <p:sp>
        <p:nvSpPr>
          <p:cNvPr id="84" name="Text 72"/>
          <p:cNvSpPr/>
          <p:nvPr/>
        </p:nvSpPr>
        <p:spPr>
          <a:xfrm>
            <a:off x="5504688" y="9400032"/>
            <a:ext cx="2560320" cy="201168"/>
          </a:xfrm>
          <a:prstGeom prst="rect">
            <a:avLst/>
          </a:prstGeom>
          <a:noFill/>
          <a:ln/>
        </p:spPr>
        <p:txBody>
          <a:bodyPr wrap="square" lIns="0" tIns="0" rIns="0" bIns="0" rtlCol="0" anchor="ctr"/>
          <a:lstStyle/>
          <a:p>
            <a:pPr indent="0" marL="0">
              <a:buNone/>
            </a:pPr>
            <a:r>
              <a:rPr lang="en-US" sz="920" b="1" dirty="0">
                <a:solidFill>
                  <a:srgbClr val="2E77B8"/>
                </a:solidFill>
                <a:latin typeface="Liberation Sans" pitchFamily="34" charset="0"/>
                <a:ea typeface="Liberation Sans" pitchFamily="34" charset="-122"/>
                <a:cs typeface="Liberation Sans" pitchFamily="34" charset="-120"/>
              </a:rPr>
              <a:t>B. Detection Approaches</a:t>
            </a:r>
            <a:endParaRPr lang="en-US" sz="920" dirty="0"/>
          </a:p>
        </p:txBody>
      </p:sp>
      <p:sp>
        <p:nvSpPr>
          <p:cNvPr id="85" name="Text 73"/>
          <p:cNvSpPr/>
          <p:nvPr/>
        </p:nvSpPr>
        <p:spPr>
          <a:xfrm>
            <a:off x="5513832" y="9701784"/>
            <a:ext cx="2651760" cy="173736"/>
          </a:xfrm>
          <a:prstGeom prst="rect">
            <a:avLst/>
          </a:prstGeom>
          <a:noFill/>
          <a:ln/>
        </p:spPr>
        <p:txBody>
          <a:bodyPr wrap="square" lIns="0" tIns="0" rIns="0" bIns="0" rtlCol="0" anchor="ctr"/>
          <a:lstStyle/>
          <a:p>
            <a:pPr indent="0" marL="0">
              <a:buNone/>
            </a:pPr>
            <a:r>
              <a:rPr lang="en-US" sz="825" b="1" dirty="0">
                <a:solidFill>
                  <a:srgbClr val="1E2933"/>
                </a:solidFill>
              </a:rPr>
              <a:t>1) Rule-Based Baseline</a:t>
            </a:r>
            <a:endParaRPr lang="en-US" sz="825" dirty="0"/>
          </a:p>
        </p:txBody>
      </p:sp>
      <p:sp>
        <p:nvSpPr>
          <p:cNvPr id="86" name="Text 74"/>
          <p:cNvSpPr/>
          <p:nvPr/>
        </p:nvSpPr>
        <p:spPr>
          <a:xfrm>
            <a:off x="5632704" y="9985248"/>
            <a:ext cx="3255264" cy="1143000"/>
          </a:xfrm>
          <a:prstGeom prst="rect">
            <a:avLst/>
          </a:prstGeom>
          <a:noFill/>
          <a:ln/>
        </p:spPr>
        <p:txBody>
          <a:bodyPr wrap="square" lIns="254" tIns="254" rIns="254" bIns="254" rtlCol="0" anchor="t">
            <a:normAutofit/>
          </a:bodyPr>
          <a:lstStyle/>
          <a:p>
            <a:pPr marL="126302" indent="-126302">
              <a:buSzPct val="100000"/>
              <a:buChar char="•"/>
            </a:pPr>
            <a:r>
              <a:rPr lang="en-US" sz="765" dirty="0">
                <a:solidFill>
                  <a:srgbClr val="1E2933"/>
                </a:solidFill>
                <a:latin typeface="Liberation Sans" pitchFamily="34" charset="0"/>
                <a:ea typeface="Liberation Sans" pitchFamily="34" charset="-122"/>
                <a:cs typeface="Liberation Sans" pitchFamily="34" charset="-120"/>
              </a:rPr>
              <a:t>Flags a first-time destination host for a user</a:t>
            </a:r>
            <a:endParaRPr lang="en-US" sz="765" dirty="0"/>
          </a:p>
          <a:p>
            <a:pPr marL="126302" indent="-126302">
              <a:buSzPct val="100000"/>
              <a:buChar char="•"/>
            </a:pPr>
            <a:r>
              <a:rPr lang="en-US" sz="765" dirty="0">
                <a:solidFill>
                  <a:srgbClr val="1E2933"/>
                </a:solidFill>
                <a:latin typeface="Liberation Sans" pitchFamily="34" charset="0"/>
                <a:ea typeface="Liberation Sans" pitchFamily="34" charset="-122"/>
                <a:cs typeface="Liberation Sans" pitchFamily="34" charset="-120"/>
              </a:rPr>
              <a:t>Flags a previously unseen source subnet</a:t>
            </a:r>
            <a:endParaRPr lang="en-US" sz="765" dirty="0"/>
          </a:p>
          <a:p>
            <a:pPr marL="126302" indent="-126302">
              <a:buSzPct val="100000"/>
              <a:buChar char="•"/>
            </a:pPr>
            <a:r>
              <a:rPr lang="en-US" sz="765" dirty="0">
                <a:solidFill>
                  <a:srgbClr val="1E2933"/>
                </a:solidFill>
                <a:latin typeface="Liberation Sans" pitchFamily="34" charset="0"/>
                <a:ea typeface="Liberation Sans" pitchFamily="34" charset="-122"/>
                <a:cs typeface="Liberation Sans" pitchFamily="34" charset="-120"/>
              </a:rPr>
              <a:t>Updates observed history in chronological order</a:t>
            </a:r>
            <a:endParaRPr lang="en-US" sz="765" dirty="0"/>
          </a:p>
          <a:p>
            <a:pPr marL="126302" indent="-126302">
              <a:buSzPct val="100000"/>
              <a:buChar char="•"/>
            </a:pPr>
            <a:r>
              <a:rPr lang="en-US" sz="765" dirty="0">
                <a:solidFill>
                  <a:srgbClr val="1E2933"/>
                </a:solidFill>
                <a:latin typeface="Liberation Sans" pitchFamily="34" charset="0"/>
                <a:ea typeface="Liberation Sans" pitchFamily="34" charset="-122"/>
                <a:cs typeface="Liberation Sans" pitchFamily="34" charset="-120"/>
              </a:rPr>
              <a:t>Simple benchmark, not a modern commercial UEBA system</a:t>
            </a:r>
            <a:endParaRPr lang="en-US" sz="765" dirty="0"/>
          </a:p>
        </p:txBody>
      </p:sp>
      <p:sp>
        <p:nvSpPr>
          <p:cNvPr id="87" name="Text 75"/>
          <p:cNvSpPr/>
          <p:nvPr/>
        </p:nvSpPr>
        <p:spPr>
          <a:xfrm>
            <a:off x="9491472" y="9701784"/>
            <a:ext cx="2651760" cy="173736"/>
          </a:xfrm>
          <a:prstGeom prst="rect">
            <a:avLst/>
          </a:prstGeom>
          <a:noFill/>
          <a:ln/>
        </p:spPr>
        <p:txBody>
          <a:bodyPr wrap="square" lIns="0" tIns="0" rIns="0" bIns="0" rtlCol="0" anchor="ctr"/>
          <a:lstStyle/>
          <a:p>
            <a:pPr indent="0" marL="0">
              <a:buNone/>
            </a:pPr>
            <a:r>
              <a:rPr lang="en-US" sz="825" b="1" dirty="0">
                <a:solidFill>
                  <a:srgbClr val="1E2933"/>
                </a:solidFill>
              </a:rPr>
              <a:t>2) Graph-Based Method</a:t>
            </a:r>
            <a:endParaRPr lang="en-US" sz="825" dirty="0"/>
          </a:p>
        </p:txBody>
      </p:sp>
      <p:sp>
        <p:nvSpPr>
          <p:cNvPr id="88" name="Text 76"/>
          <p:cNvSpPr/>
          <p:nvPr/>
        </p:nvSpPr>
        <p:spPr>
          <a:xfrm>
            <a:off x="9610344" y="9985248"/>
            <a:ext cx="3355848" cy="1143000"/>
          </a:xfrm>
          <a:prstGeom prst="rect">
            <a:avLst/>
          </a:prstGeom>
          <a:noFill/>
          <a:ln/>
        </p:spPr>
        <p:txBody>
          <a:bodyPr wrap="square" lIns="254" tIns="254" rIns="254" bIns="254" rtlCol="0" anchor="t">
            <a:normAutofit/>
          </a:bodyPr>
          <a:lstStyle/>
          <a:p>
            <a:pPr marL="126302" indent="-126302">
              <a:buSzPct val="100000"/>
              <a:buChar char="•"/>
            </a:pPr>
            <a:r>
              <a:rPr lang="en-US" sz="765" dirty="0">
                <a:solidFill>
                  <a:srgbClr val="1E2933"/>
                </a:solidFill>
                <a:latin typeface="Liberation Sans" pitchFamily="34" charset="0"/>
                <a:ea typeface="Liberation Sans" pitchFamily="34" charset="-122"/>
                <a:cs typeface="Liberation Sans" pitchFamily="34" charset="-120"/>
              </a:rPr>
              <a:t>N: new user-to-destination relationship</a:t>
            </a:r>
            <a:endParaRPr lang="en-US" sz="765" dirty="0"/>
          </a:p>
          <a:p>
            <a:pPr marL="126302" indent="-126302">
              <a:buSzPct val="100000"/>
              <a:buChar char="•"/>
            </a:pPr>
            <a:r>
              <a:rPr lang="en-US" sz="765" dirty="0">
                <a:solidFill>
                  <a:srgbClr val="1E2933"/>
                </a:solidFill>
                <a:latin typeface="Liberation Sans" pitchFamily="34" charset="0"/>
                <a:ea typeface="Liberation Sans" pitchFamily="34" charset="-122"/>
                <a:cs typeface="Liberation Sans" pitchFamily="34" charset="-120"/>
              </a:rPr>
              <a:t>R: destination is closer to DC-01 than the user's historical footprint</a:t>
            </a:r>
            <a:endParaRPr lang="en-US" sz="765" dirty="0"/>
          </a:p>
          <a:p>
            <a:pPr marL="126302" indent="-126302">
              <a:buSzPct val="100000"/>
              <a:buChar char="•"/>
            </a:pPr>
            <a:r>
              <a:rPr lang="en-US" sz="765" dirty="0">
                <a:solidFill>
                  <a:srgbClr val="1E2933"/>
                </a:solidFill>
                <a:latin typeface="Liberation Sans" pitchFamily="34" charset="0"/>
                <a:ea typeface="Liberation Sans" pitchFamily="34" charset="-122"/>
                <a:cs typeface="Liberation Sans" pitchFamily="34" charset="-120"/>
              </a:rPr>
              <a:t>D: positive deviation in daily distinct-user activity at the destination</a:t>
            </a:r>
            <a:endParaRPr lang="en-US" sz="765" dirty="0"/>
          </a:p>
          <a:p>
            <a:pPr marL="126302" indent="-126302">
              <a:buSzPct val="100000"/>
              <a:buChar char="•"/>
            </a:pPr>
            <a:r>
              <a:rPr lang="en-US" sz="765" dirty="0">
                <a:solidFill>
                  <a:srgbClr val="1E2933"/>
                </a:solidFill>
                <a:latin typeface="Liberation Sans" pitchFamily="34" charset="0"/>
                <a:ea typeface="Liberation Sans" pitchFamily="34" charset="-122"/>
                <a:cs typeface="Liberation Sans" pitchFamily="34" charset="-120"/>
              </a:rPr>
              <a:t>Logistic regression fitted on the chronological fit period</a:t>
            </a:r>
            <a:endParaRPr lang="en-US" sz="765" dirty="0"/>
          </a:p>
        </p:txBody>
      </p:sp>
      <p:sp>
        <p:nvSpPr>
          <p:cNvPr id="89" name="Shape 77"/>
          <p:cNvSpPr/>
          <p:nvPr/>
        </p:nvSpPr>
        <p:spPr>
          <a:xfrm>
            <a:off x="5486400" y="11292840"/>
            <a:ext cx="7580376" cy="502920"/>
          </a:xfrm>
          <a:prstGeom prst="roundRect">
            <a:avLst>
              <a:gd name="adj" fmla="val 5455"/>
            </a:avLst>
          </a:prstGeom>
          <a:solidFill>
            <a:srgbClr val="DCECF8"/>
          </a:solidFill>
          <a:ln w="10160">
            <a:solidFill>
              <a:srgbClr val="2E77B8"/>
            </a:solidFill>
            <a:prstDash val="solid"/>
          </a:ln>
        </p:spPr>
      </p:sp>
      <p:sp>
        <p:nvSpPr>
          <p:cNvPr id="90" name="Text 78"/>
          <p:cNvSpPr/>
          <p:nvPr/>
        </p:nvSpPr>
        <p:spPr>
          <a:xfrm>
            <a:off x="5779008" y="11430000"/>
            <a:ext cx="6986016" cy="182880"/>
          </a:xfrm>
          <a:prstGeom prst="rect">
            <a:avLst/>
          </a:prstGeom>
          <a:noFill/>
          <a:ln/>
        </p:spPr>
        <p:txBody>
          <a:bodyPr wrap="square" lIns="0" tIns="0" rIns="0" bIns="0" rtlCol="0" anchor="ctr"/>
          <a:lstStyle/>
          <a:p>
            <a:pPr algn="ctr" indent="0" marL="0">
              <a:buNone/>
            </a:pPr>
            <a:r>
              <a:rPr lang="en-US" sz="900" b="1" dirty="0">
                <a:solidFill>
                  <a:srgbClr val="17365D"/>
                </a:solidFill>
                <a:latin typeface="Liberation Mono" pitchFamily="34" charset="0"/>
                <a:ea typeface="Liberation Mono" pitchFamily="34" charset="-122"/>
                <a:cs typeface="Liberation Mono" pitchFamily="34" charset="-120"/>
              </a:rPr>
              <a:t>logit P(malicious) = beta0 + beta1 N + beta2 R + beta3 D</a:t>
            </a:r>
            <a:endParaRPr lang="en-US" sz="900" dirty="0"/>
          </a:p>
        </p:txBody>
      </p:sp>
      <p:sp>
        <p:nvSpPr>
          <p:cNvPr id="91" name="Text 79"/>
          <p:cNvSpPr/>
          <p:nvPr/>
        </p:nvSpPr>
        <p:spPr>
          <a:xfrm>
            <a:off x="5650992" y="11878056"/>
            <a:ext cx="7251192" cy="274320"/>
          </a:xfrm>
          <a:prstGeom prst="rect">
            <a:avLst/>
          </a:prstGeom>
          <a:noFill/>
          <a:ln/>
        </p:spPr>
        <p:txBody>
          <a:bodyPr wrap="square" lIns="0" tIns="0" rIns="0" bIns="0" rtlCol="0" anchor="ctr">
            <a:normAutofit/>
          </a:bodyPr>
          <a:lstStyle/>
          <a:p>
            <a:pPr algn="ctr" indent="0" marL="0">
              <a:buNone/>
            </a:pPr>
            <a:r>
              <a:rPr lang="en-US" sz="690" i="1" dirty="0">
                <a:solidFill>
                  <a:srgbClr val="5F6B76"/>
                </a:solidFill>
              </a:rPr>
              <a:t>Coefficients are learned from labeled fit-period events. Final test alerts are ranked without using test labels.</a:t>
            </a:r>
            <a:endParaRPr lang="en-US" sz="690" dirty="0"/>
          </a:p>
        </p:txBody>
      </p:sp>
      <p:sp>
        <p:nvSpPr>
          <p:cNvPr id="92" name="Text 80"/>
          <p:cNvSpPr/>
          <p:nvPr/>
        </p:nvSpPr>
        <p:spPr>
          <a:xfrm>
            <a:off x="5504688" y="12326112"/>
            <a:ext cx="2926080" cy="201168"/>
          </a:xfrm>
          <a:prstGeom prst="rect">
            <a:avLst/>
          </a:prstGeom>
          <a:noFill/>
          <a:ln/>
        </p:spPr>
        <p:txBody>
          <a:bodyPr wrap="square" lIns="0" tIns="0" rIns="0" bIns="0" rtlCol="0" anchor="ctr"/>
          <a:lstStyle/>
          <a:p>
            <a:pPr indent="0" marL="0">
              <a:buNone/>
            </a:pPr>
            <a:r>
              <a:rPr lang="en-US" sz="920" b="1" dirty="0">
                <a:solidFill>
                  <a:srgbClr val="2E77B8"/>
                </a:solidFill>
                <a:latin typeface="Liberation Sans" pitchFamily="34" charset="0"/>
                <a:ea typeface="Liberation Sans" pitchFamily="34" charset="-122"/>
                <a:cs typeface="Liberation Sans" pitchFamily="34" charset="-120"/>
              </a:rPr>
              <a:t>C. Relational Representation</a:t>
            </a:r>
            <a:endParaRPr lang="en-US" sz="920" dirty="0"/>
          </a:p>
        </p:txBody>
      </p:sp>
      <p:sp>
        <p:nvSpPr>
          <p:cNvPr id="93" name="Text 81"/>
          <p:cNvSpPr/>
          <p:nvPr/>
        </p:nvSpPr>
        <p:spPr>
          <a:xfrm>
            <a:off x="5504688" y="12637008"/>
            <a:ext cx="7187184" cy="384048"/>
          </a:xfrm>
          <a:prstGeom prst="rect">
            <a:avLst/>
          </a:prstGeom>
          <a:noFill/>
          <a:ln/>
        </p:spPr>
        <p:txBody>
          <a:bodyPr wrap="square" lIns="381" tIns="381" rIns="381" bIns="381" rtlCol="0" anchor="t">
            <a:normAutofit/>
          </a:bodyPr>
          <a:lstStyle/>
          <a:p>
            <a:pPr algn="l" indent="0" marL="0">
              <a:lnSpc>
                <a:spcPct val="95000"/>
              </a:lnSpc>
              <a:buNone/>
            </a:pPr>
            <a:r>
              <a:rPr lang="en-US" sz="745" dirty="0">
                <a:solidFill>
                  <a:srgbClr val="1E2933"/>
                </a:solidFill>
                <a:latin typeface="Liberation Sans" pitchFamily="34" charset="0"/>
                <a:ea typeface="Liberation Sans" pitchFamily="34" charset="-122"/>
                <a:cs typeface="Liberation Sans" pitchFamily="34" charset="-120"/>
              </a:rPr>
              <a:t>Historical user-host relationships define normal access. Hosts co-accessed by users form a graph used to estimate paths toward DC-01.</a:t>
            </a:r>
            <a:endParaRPr lang="en-US" sz="745" dirty="0"/>
          </a:p>
        </p:txBody>
      </p:sp>
      <p:sp>
        <p:nvSpPr>
          <p:cNvPr id="94" name="Shape 82"/>
          <p:cNvSpPr/>
          <p:nvPr/>
        </p:nvSpPr>
        <p:spPr>
          <a:xfrm>
            <a:off x="6080760" y="13130784"/>
            <a:ext cx="438912" cy="438912"/>
          </a:xfrm>
          <a:prstGeom prst="ellipse">
            <a:avLst/>
          </a:prstGeom>
          <a:solidFill>
            <a:srgbClr val="2E77B8"/>
          </a:solidFill>
          <a:ln w="12700">
            <a:solidFill>
              <a:srgbClr val="2E77B8"/>
            </a:solidFill>
            <a:prstDash val="solid"/>
          </a:ln>
        </p:spPr>
      </p:sp>
      <p:sp>
        <p:nvSpPr>
          <p:cNvPr id="95" name="Shape 83"/>
          <p:cNvSpPr/>
          <p:nvPr/>
        </p:nvSpPr>
        <p:spPr>
          <a:xfrm>
            <a:off x="6080760" y="13853160"/>
            <a:ext cx="438912" cy="438912"/>
          </a:xfrm>
          <a:prstGeom prst="ellipse">
            <a:avLst/>
          </a:prstGeom>
          <a:solidFill>
            <a:srgbClr val="2E77B8"/>
          </a:solidFill>
          <a:ln w="12700">
            <a:solidFill>
              <a:srgbClr val="2E77B8"/>
            </a:solidFill>
            <a:prstDash val="solid"/>
          </a:ln>
        </p:spPr>
      </p:sp>
      <p:sp>
        <p:nvSpPr>
          <p:cNvPr id="96" name="Text 84"/>
          <p:cNvSpPr/>
          <p:nvPr/>
        </p:nvSpPr>
        <p:spPr>
          <a:xfrm>
            <a:off x="5925312" y="13578840"/>
            <a:ext cx="749808" cy="155448"/>
          </a:xfrm>
          <a:prstGeom prst="rect">
            <a:avLst/>
          </a:prstGeom>
          <a:noFill/>
          <a:ln/>
        </p:spPr>
        <p:txBody>
          <a:bodyPr wrap="square" lIns="0" tIns="0" rIns="0" bIns="0" rtlCol="0" anchor="ctr"/>
          <a:lstStyle/>
          <a:p>
            <a:pPr algn="ctr" indent="0" marL="0">
              <a:buNone/>
            </a:pPr>
            <a:r>
              <a:rPr lang="en-US" sz="640" b="1" dirty="0">
                <a:solidFill>
                  <a:srgbClr val="000000"/>
                </a:solidFill>
              </a:rPr>
              <a:t>User A</a:t>
            </a:r>
            <a:endParaRPr lang="en-US" sz="640" dirty="0"/>
          </a:p>
        </p:txBody>
      </p:sp>
      <p:sp>
        <p:nvSpPr>
          <p:cNvPr id="97" name="Text 85"/>
          <p:cNvSpPr/>
          <p:nvPr/>
        </p:nvSpPr>
        <p:spPr>
          <a:xfrm>
            <a:off x="5925312" y="14301216"/>
            <a:ext cx="749808" cy="155448"/>
          </a:xfrm>
          <a:prstGeom prst="rect">
            <a:avLst/>
          </a:prstGeom>
          <a:noFill/>
          <a:ln/>
        </p:spPr>
        <p:txBody>
          <a:bodyPr wrap="square" lIns="0" tIns="0" rIns="0" bIns="0" rtlCol="0" anchor="ctr"/>
          <a:lstStyle/>
          <a:p>
            <a:pPr algn="ctr" indent="0" marL="0">
              <a:buNone/>
            </a:pPr>
            <a:r>
              <a:rPr lang="en-US" sz="640" b="1" dirty="0">
                <a:solidFill>
                  <a:srgbClr val="000000"/>
                </a:solidFill>
              </a:rPr>
              <a:t>User B</a:t>
            </a:r>
            <a:endParaRPr lang="en-US" sz="640" dirty="0"/>
          </a:p>
        </p:txBody>
      </p:sp>
      <p:sp>
        <p:nvSpPr>
          <p:cNvPr id="98" name="Shape 86"/>
          <p:cNvSpPr/>
          <p:nvPr/>
        </p:nvSpPr>
        <p:spPr>
          <a:xfrm>
            <a:off x="7863840" y="13121640"/>
            <a:ext cx="502920" cy="585216"/>
          </a:xfrm>
          <a:prstGeom prst="roundRect">
            <a:avLst>
              <a:gd name="adj" fmla="val 5455"/>
            </a:avLst>
          </a:prstGeom>
          <a:solidFill>
            <a:srgbClr val="3F566B"/>
          </a:solidFill>
          <a:ln w="7620">
            <a:solidFill>
              <a:srgbClr val="17365D"/>
            </a:solidFill>
            <a:prstDash val="solid"/>
          </a:ln>
        </p:spPr>
      </p:sp>
      <p:sp>
        <p:nvSpPr>
          <p:cNvPr id="99" name="Text 87"/>
          <p:cNvSpPr/>
          <p:nvPr/>
        </p:nvSpPr>
        <p:spPr>
          <a:xfrm>
            <a:off x="7699248" y="13743432"/>
            <a:ext cx="841248" cy="146304"/>
          </a:xfrm>
          <a:prstGeom prst="rect">
            <a:avLst/>
          </a:prstGeom>
          <a:noFill/>
          <a:ln/>
        </p:spPr>
        <p:txBody>
          <a:bodyPr wrap="square" lIns="0" tIns="0" rIns="0" bIns="0" rtlCol="0" anchor="ctr"/>
          <a:lstStyle/>
          <a:p>
            <a:pPr algn="ctr" indent="0" marL="0">
              <a:buNone/>
            </a:pPr>
            <a:r>
              <a:rPr lang="en-US" sz="620" b="1" dirty="0">
                <a:solidFill>
                  <a:srgbClr val="000000"/>
                </a:solidFill>
              </a:rPr>
              <a:t>Server 1</a:t>
            </a:r>
            <a:endParaRPr lang="en-US" sz="620" dirty="0"/>
          </a:p>
        </p:txBody>
      </p:sp>
      <p:sp>
        <p:nvSpPr>
          <p:cNvPr id="100" name="Shape 88"/>
          <p:cNvSpPr/>
          <p:nvPr/>
        </p:nvSpPr>
        <p:spPr>
          <a:xfrm>
            <a:off x="9528048" y="13121640"/>
            <a:ext cx="502920" cy="585216"/>
          </a:xfrm>
          <a:prstGeom prst="roundRect">
            <a:avLst>
              <a:gd name="adj" fmla="val 5455"/>
            </a:avLst>
          </a:prstGeom>
          <a:solidFill>
            <a:srgbClr val="3F566B"/>
          </a:solidFill>
          <a:ln w="7620">
            <a:solidFill>
              <a:srgbClr val="17365D"/>
            </a:solidFill>
            <a:prstDash val="solid"/>
          </a:ln>
        </p:spPr>
      </p:sp>
      <p:sp>
        <p:nvSpPr>
          <p:cNvPr id="101" name="Text 89"/>
          <p:cNvSpPr/>
          <p:nvPr/>
        </p:nvSpPr>
        <p:spPr>
          <a:xfrm>
            <a:off x="9363456" y="13743432"/>
            <a:ext cx="841248" cy="146304"/>
          </a:xfrm>
          <a:prstGeom prst="rect">
            <a:avLst/>
          </a:prstGeom>
          <a:noFill/>
          <a:ln/>
        </p:spPr>
        <p:txBody>
          <a:bodyPr wrap="square" lIns="0" tIns="0" rIns="0" bIns="0" rtlCol="0" anchor="ctr"/>
          <a:lstStyle/>
          <a:p>
            <a:pPr algn="ctr" indent="0" marL="0">
              <a:buNone/>
            </a:pPr>
            <a:r>
              <a:rPr lang="en-US" sz="620" b="1" dirty="0">
                <a:solidFill>
                  <a:srgbClr val="000000"/>
                </a:solidFill>
              </a:rPr>
              <a:t>Server 2</a:t>
            </a:r>
            <a:endParaRPr lang="en-US" sz="620" dirty="0"/>
          </a:p>
        </p:txBody>
      </p:sp>
      <p:sp>
        <p:nvSpPr>
          <p:cNvPr id="102" name="Shape 90"/>
          <p:cNvSpPr/>
          <p:nvPr/>
        </p:nvSpPr>
        <p:spPr>
          <a:xfrm>
            <a:off x="8732520" y="13908024"/>
            <a:ext cx="502920" cy="585216"/>
          </a:xfrm>
          <a:prstGeom prst="roundRect">
            <a:avLst>
              <a:gd name="adj" fmla="val 5455"/>
            </a:avLst>
          </a:prstGeom>
          <a:solidFill>
            <a:srgbClr val="3F566B"/>
          </a:solidFill>
          <a:ln w="7620">
            <a:solidFill>
              <a:srgbClr val="17365D"/>
            </a:solidFill>
            <a:prstDash val="solid"/>
          </a:ln>
        </p:spPr>
      </p:sp>
      <p:sp>
        <p:nvSpPr>
          <p:cNvPr id="103" name="Text 91"/>
          <p:cNvSpPr/>
          <p:nvPr/>
        </p:nvSpPr>
        <p:spPr>
          <a:xfrm>
            <a:off x="8567928" y="14529816"/>
            <a:ext cx="841248" cy="146304"/>
          </a:xfrm>
          <a:prstGeom prst="rect">
            <a:avLst/>
          </a:prstGeom>
          <a:noFill/>
          <a:ln/>
        </p:spPr>
        <p:txBody>
          <a:bodyPr wrap="square" lIns="0" tIns="0" rIns="0" bIns="0" rtlCol="0" anchor="ctr"/>
          <a:lstStyle/>
          <a:p>
            <a:pPr algn="ctr" indent="0" marL="0">
              <a:buNone/>
            </a:pPr>
            <a:r>
              <a:rPr lang="en-US" sz="620" b="1" dirty="0">
                <a:solidFill>
                  <a:srgbClr val="000000"/>
                </a:solidFill>
              </a:rPr>
              <a:t>Server 3</a:t>
            </a:r>
            <a:endParaRPr lang="en-US" sz="620" dirty="0"/>
          </a:p>
        </p:txBody>
      </p:sp>
      <p:sp>
        <p:nvSpPr>
          <p:cNvPr id="104" name="Shape 92"/>
          <p:cNvSpPr/>
          <p:nvPr/>
        </p:nvSpPr>
        <p:spPr>
          <a:xfrm>
            <a:off x="11475720" y="13533120"/>
            <a:ext cx="502920" cy="585216"/>
          </a:xfrm>
          <a:prstGeom prst="roundRect">
            <a:avLst>
              <a:gd name="adj" fmla="val 5455"/>
            </a:avLst>
          </a:prstGeom>
          <a:solidFill>
            <a:srgbClr val="17365D"/>
          </a:solidFill>
          <a:ln w="7620">
            <a:solidFill>
              <a:srgbClr val="17365D"/>
            </a:solidFill>
            <a:prstDash val="solid"/>
          </a:ln>
        </p:spPr>
      </p:sp>
      <p:sp>
        <p:nvSpPr>
          <p:cNvPr id="105" name="Text 93"/>
          <p:cNvSpPr/>
          <p:nvPr/>
        </p:nvSpPr>
        <p:spPr>
          <a:xfrm>
            <a:off x="11311128" y="14154912"/>
            <a:ext cx="841248" cy="146304"/>
          </a:xfrm>
          <a:prstGeom prst="rect">
            <a:avLst/>
          </a:prstGeom>
          <a:noFill/>
          <a:ln/>
        </p:spPr>
        <p:txBody>
          <a:bodyPr wrap="square" lIns="0" tIns="0" rIns="0" bIns="0" rtlCol="0" anchor="ctr"/>
          <a:lstStyle/>
          <a:p>
            <a:pPr algn="ctr" indent="0" marL="0">
              <a:buNone/>
            </a:pPr>
            <a:r>
              <a:rPr lang="en-US" sz="620" b="1" dirty="0">
                <a:solidFill>
                  <a:srgbClr val="000000"/>
                </a:solidFill>
              </a:rPr>
              <a:t>DC-01</a:t>
            </a:r>
            <a:endParaRPr lang="en-US" sz="620" dirty="0"/>
          </a:p>
        </p:txBody>
      </p:sp>
      <p:sp>
        <p:nvSpPr>
          <p:cNvPr id="106" name="Shape 94"/>
          <p:cNvSpPr/>
          <p:nvPr/>
        </p:nvSpPr>
        <p:spPr>
          <a:xfrm>
            <a:off x="6519672" y="13350240"/>
            <a:ext cx="1344168" cy="0"/>
          </a:xfrm>
          <a:prstGeom prst="line">
            <a:avLst/>
          </a:prstGeom>
          <a:noFill/>
          <a:ln w="16510">
            <a:solidFill>
              <a:srgbClr val="17365D"/>
            </a:solidFill>
            <a:prstDash val="solid"/>
            <a:tailEnd type="triangle"/>
          </a:ln>
        </p:spPr>
      </p:sp>
      <p:sp>
        <p:nvSpPr>
          <p:cNvPr id="107" name="Shape 95"/>
          <p:cNvSpPr/>
          <p:nvPr/>
        </p:nvSpPr>
        <p:spPr>
          <a:xfrm>
            <a:off x="8366760" y="13414248"/>
            <a:ext cx="1161288" cy="0"/>
          </a:xfrm>
          <a:prstGeom prst="line">
            <a:avLst/>
          </a:prstGeom>
          <a:noFill/>
          <a:ln w="16510">
            <a:solidFill>
              <a:srgbClr val="17365D"/>
            </a:solidFill>
            <a:prstDash val="solid"/>
            <a:tailEnd type="triangle"/>
          </a:ln>
        </p:spPr>
      </p:sp>
      <p:sp>
        <p:nvSpPr>
          <p:cNvPr id="108" name="Shape 96"/>
          <p:cNvSpPr/>
          <p:nvPr/>
        </p:nvSpPr>
        <p:spPr>
          <a:xfrm>
            <a:off x="10030968" y="13414248"/>
            <a:ext cx="1444752" cy="320040"/>
          </a:xfrm>
          <a:prstGeom prst="line">
            <a:avLst/>
          </a:prstGeom>
          <a:noFill/>
          <a:ln w="16510">
            <a:solidFill>
              <a:srgbClr val="17365D"/>
            </a:solidFill>
            <a:prstDash val="solid"/>
            <a:tailEnd type="triangle"/>
          </a:ln>
        </p:spPr>
      </p:sp>
      <p:sp>
        <p:nvSpPr>
          <p:cNvPr id="109" name="Shape 97"/>
          <p:cNvSpPr/>
          <p:nvPr/>
        </p:nvSpPr>
        <p:spPr>
          <a:xfrm>
            <a:off x="6519672" y="14072616"/>
            <a:ext cx="2212848" cy="91440"/>
          </a:xfrm>
          <a:prstGeom prst="line">
            <a:avLst/>
          </a:prstGeom>
          <a:noFill/>
          <a:ln w="16510">
            <a:solidFill>
              <a:srgbClr val="17365D"/>
            </a:solidFill>
            <a:prstDash val="solid"/>
            <a:tailEnd type="triangle"/>
          </a:ln>
        </p:spPr>
      </p:sp>
      <p:sp>
        <p:nvSpPr>
          <p:cNvPr id="110" name="Shape 98"/>
          <p:cNvSpPr/>
          <p:nvPr/>
        </p:nvSpPr>
        <p:spPr>
          <a:xfrm>
            <a:off x="6519672" y="13405104"/>
            <a:ext cx="4956048" cy="374904"/>
          </a:xfrm>
          <a:prstGeom prst="line">
            <a:avLst/>
          </a:prstGeom>
          <a:noFill/>
          <a:ln w="15240">
            <a:solidFill>
              <a:srgbClr val="D9534F"/>
            </a:solidFill>
            <a:prstDash val="solid"/>
            <a:tailEnd type="triangle"/>
          </a:ln>
        </p:spPr>
      </p:sp>
      <p:sp>
        <p:nvSpPr>
          <p:cNvPr id="111" name="Shape 99"/>
          <p:cNvSpPr/>
          <p:nvPr/>
        </p:nvSpPr>
        <p:spPr>
          <a:xfrm>
            <a:off x="9235440" y="14145768"/>
            <a:ext cx="2240280" cy="-164592"/>
          </a:xfrm>
          <a:prstGeom prst="line">
            <a:avLst/>
          </a:prstGeom>
          <a:noFill/>
          <a:ln w="15240">
            <a:solidFill>
              <a:srgbClr val="D9534F"/>
            </a:solidFill>
            <a:prstDash val="solid"/>
            <a:tailEnd type="triangle"/>
          </a:ln>
        </p:spPr>
      </p:sp>
      <p:sp>
        <p:nvSpPr>
          <p:cNvPr id="112" name="Text 100"/>
          <p:cNvSpPr/>
          <p:nvPr/>
        </p:nvSpPr>
        <p:spPr>
          <a:xfrm>
            <a:off x="10991088" y="12783312"/>
            <a:ext cx="822960" cy="146304"/>
          </a:xfrm>
          <a:prstGeom prst="rect">
            <a:avLst/>
          </a:prstGeom>
          <a:noFill/>
          <a:ln/>
        </p:spPr>
        <p:txBody>
          <a:bodyPr wrap="square" lIns="0" tIns="0" rIns="0" bIns="0" rtlCol="0" anchor="ctr"/>
          <a:lstStyle/>
          <a:p>
            <a:pPr indent="0" marL="0">
              <a:buNone/>
            </a:pPr>
            <a:r>
              <a:rPr lang="en-US" sz="620" dirty="0">
                <a:solidFill>
                  <a:srgbClr val="1E2933"/>
                </a:solidFill>
              </a:rPr>
              <a:t>Normal path</a:t>
            </a:r>
            <a:endParaRPr lang="en-US" sz="620" dirty="0"/>
          </a:p>
        </p:txBody>
      </p:sp>
      <p:sp>
        <p:nvSpPr>
          <p:cNvPr id="113" name="Shape 101"/>
          <p:cNvSpPr/>
          <p:nvPr/>
        </p:nvSpPr>
        <p:spPr>
          <a:xfrm>
            <a:off x="10680192" y="12865608"/>
            <a:ext cx="237744" cy="0"/>
          </a:xfrm>
          <a:prstGeom prst="line">
            <a:avLst/>
          </a:prstGeom>
          <a:noFill/>
          <a:ln w="15240">
            <a:solidFill>
              <a:srgbClr val="17365D"/>
            </a:solidFill>
            <a:prstDash val="solid"/>
            <a:tailEnd type="triangle"/>
          </a:ln>
        </p:spPr>
      </p:sp>
      <p:sp>
        <p:nvSpPr>
          <p:cNvPr id="114" name="Text 102"/>
          <p:cNvSpPr/>
          <p:nvPr/>
        </p:nvSpPr>
        <p:spPr>
          <a:xfrm>
            <a:off x="10991088" y="12984480"/>
            <a:ext cx="960120" cy="146304"/>
          </a:xfrm>
          <a:prstGeom prst="rect">
            <a:avLst/>
          </a:prstGeom>
          <a:noFill/>
          <a:ln/>
        </p:spPr>
        <p:txBody>
          <a:bodyPr wrap="square" lIns="0" tIns="0" rIns="0" bIns="0" rtlCol="0" anchor="ctr"/>
          <a:lstStyle/>
          <a:p>
            <a:pPr indent="0" marL="0">
              <a:buNone/>
            </a:pPr>
            <a:r>
              <a:rPr lang="en-US" sz="620" dirty="0">
                <a:solidFill>
                  <a:srgbClr val="1E2933"/>
                </a:solidFill>
              </a:rPr>
              <a:t>Suspicious path</a:t>
            </a:r>
            <a:endParaRPr lang="en-US" sz="620" dirty="0"/>
          </a:p>
        </p:txBody>
      </p:sp>
      <p:sp>
        <p:nvSpPr>
          <p:cNvPr id="115" name="Shape 103"/>
          <p:cNvSpPr/>
          <p:nvPr/>
        </p:nvSpPr>
        <p:spPr>
          <a:xfrm>
            <a:off x="10680192" y="13066776"/>
            <a:ext cx="237744" cy="0"/>
          </a:xfrm>
          <a:prstGeom prst="line">
            <a:avLst/>
          </a:prstGeom>
          <a:noFill/>
          <a:ln w="15240">
            <a:solidFill>
              <a:srgbClr val="D9534F"/>
            </a:solidFill>
            <a:prstDash val="solid"/>
            <a:tailEnd type="triangle"/>
          </a:ln>
        </p:spPr>
      </p:sp>
      <p:sp>
        <p:nvSpPr>
          <p:cNvPr id="116" name="Text 104"/>
          <p:cNvSpPr/>
          <p:nvPr/>
        </p:nvSpPr>
        <p:spPr>
          <a:xfrm>
            <a:off x="7479792" y="14548104"/>
            <a:ext cx="4480560" cy="164592"/>
          </a:xfrm>
          <a:prstGeom prst="rect">
            <a:avLst/>
          </a:prstGeom>
          <a:noFill/>
          <a:ln/>
        </p:spPr>
        <p:txBody>
          <a:bodyPr wrap="square" lIns="0" tIns="0" rIns="0" bIns="0" rtlCol="0" anchor="ctr"/>
          <a:lstStyle/>
          <a:p>
            <a:pPr algn="ctr" indent="0" marL="0">
              <a:buNone/>
            </a:pPr>
            <a:r>
              <a:rPr lang="en-US" sz="660" i="1" dirty="0">
                <a:solidFill>
                  <a:srgbClr val="5F6B76"/>
                </a:solidFill>
              </a:rPr>
              <a:t>Fig. 2. Example of ordinary and suspicious access relationships.</a:t>
            </a:r>
            <a:endParaRPr lang="en-US" sz="660" dirty="0"/>
          </a:p>
        </p:txBody>
      </p:sp>
      <p:sp>
        <p:nvSpPr>
          <p:cNvPr id="117" name="Text 105"/>
          <p:cNvSpPr/>
          <p:nvPr/>
        </p:nvSpPr>
        <p:spPr>
          <a:xfrm>
            <a:off x="640080" y="15901416"/>
            <a:ext cx="1554480" cy="201168"/>
          </a:xfrm>
          <a:prstGeom prst="rect">
            <a:avLst/>
          </a:prstGeom>
          <a:noFill/>
          <a:ln/>
        </p:spPr>
        <p:txBody>
          <a:bodyPr wrap="square" lIns="0" tIns="0" rIns="0" bIns="0" rtlCol="0" anchor="ctr"/>
          <a:lstStyle/>
          <a:p>
            <a:pPr indent="0" marL="0">
              <a:buNone/>
            </a:pPr>
            <a:r>
              <a:rPr lang="en-US" sz="920" b="1" dirty="0">
                <a:solidFill>
                  <a:srgbClr val="17365D"/>
                </a:solidFill>
                <a:latin typeface="Liberation Sans" pitchFamily="34" charset="0"/>
                <a:ea typeface="Liberation Sans" pitchFamily="34" charset="-122"/>
                <a:cs typeface="Liberation Sans" pitchFamily="34" charset="-120"/>
              </a:rPr>
              <a:t>Observed dataset</a:t>
            </a:r>
            <a:endParaRPr lang="en-US" sz="920" dirty="0"/>
          </a:p>
        </p:txBody>
      </p:sp>
      <p:pic>
        <p:nvPicPr>
          <p:cNvPr id="118" name="Image 10" descr="preencoded.png">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656082" y="16230600"/>
            <a:ext cx="224028" cy="256032"/>
          </a:xfrm>
          <a:prstGeom prst="rect">
            <a:avLst/>
          </a:prstGeom>
        </p:spPr>
      </p:pic>
      <p:sp>
        <p:nvSpPr>
          <p:cNvPr id="119" name="Text 106"/>
          <p:cNvSpPr/>
          <p:nvPr/>
        </p:nvSpPr>
        <p:spPr>
          <a:xfrm>
            <a:off x="987552" y="16239744"/>
            <a:ext cx="777240" cy="155448"/>
          </a:xfrm>
          <a:prstGeom prst="rect">
            <a:avLst/>
          </a:prstGeom>
          <a:noFill/>
          <a:ln/>
        </p:spPr>
        <p:txBody>
          <a:bodyPr wrap="square" lIns="0" tIns="0" rIns="0" bIns="0" rtlCol="0" anchor="ctr"/>
          <a:lstStyle/>
          <a:p>
            <a:pPr indent="0" marL="0">
              <a:buNone/>
            </a:pPr>
            <a:r>
              <a:rPr lang="en-US" sz="750" b="1" dirty="0">
                <a:solidFill>
                  <a:srgbClr val="1E2933"/>
                </a:solidFill>
              </a:rPr>
              <a:t>Events</a:t>
            </a:r>
            <a:endParaRPr lang="en-US" sz="750" dirty="0"/>
          </a:p>
        </p:txBody>
      </p:sp>
      <p:sp>
        <p:nvSpPr>
          <p:cNvPr id="120" name="Text 107"/>
          <p:cNvSpPr/>
          <p:nvPr/>
        </p:nvSpPr>
        <p:spPr>
          <a:xfrm>
            <a:off x="1719072" y="16239744"/>
            <a:ext cx="2542032" cy="219456"/>
          </a:xfrm>
          <a:prstGeom prst="rect">
            <a:avLst/>
          </a:prstGeom>
          <a:noFill/>
          <a:ln/>
        </p:spPr>
        <p:txBody>
          <a:bodyPr wrap="square" lIns="0" tIns="0" rIns="0" bIns="0" rtlCol="0" anchor="ctr">
            <a:normAutofit/>
          </a:bodyPr>
          <a:lstStyle/>
          <a:p>
            <a:pPr indent="0" marL="0">
              <a:buNone/>
            </a:pPr>
            <a:r>
              <a:rPr lang="en-US" sz="710" dirty="0">
                <a:solidFill>
                  <a:srgbClr val="5F6B76"/>
                </a:solidFill>
              </a:rPr>
              <a:t>180,000 across 30 days</a:t>
            </a:r>
            <a:endParaRPr lang="en-US" sz="710" dirty="0"/>
          </a:p>
        </p:txBody>
      </p:sp>
      <p:pic>
        <p:nvPicPr>
          <p:cNvPr id="121" name="Image 11" descr="preencoded.png">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640080" y="16667683"/>
            <a:ext cx="256032" cy="204826"/>
          </a:xfrm>
          <a:prstGeom prst="rect">
            <a:avLst/>
          </a:prstGeom>
        </p:spPr>
      </p:pic>
      <p:sp>
        <p:nvSpPr>
          <p:cNvPr id="122" name="Text 108"/>
          <p:cNvSpPr/>
          <p:nvPr/>
        </p:nvSpPr>
        <p:spPr>
          <a:xfrm>
            <a:off x="987552" y="16651224"/>
            <a:ext cx="777240" cy="155448"/>
          </a:xfrm>
          <a:prstGeom prst="rect">
            <a:avLst/>
          </a:prstGeom>
          <a:noFill/>
          <a:ln/>
        </p:spPr>
        <p:txBody>
          <a:bodyPr wrap="square" lIns="0" tIns="0" rIns="0" bIns="0" rtlCol="0" anchor="ctr"/>
          <a:lstStyle/>
          <a:p>
            <a:pPr indent="0" marL="0">
              <a:buNone/>
            </a:pPr>
            <a:r>
              <a:rPr lang="en-US" sz="750" b="1" dirty="0">
                <a:solidFill>
                  <a:srgbClr val="1E2933"/>
                </a:solidFill>
              </a:rPr>
              <a:t>Users</a:t>
            </a:r>
            <a:endParaRPr lang="en-US" sz="750" dirty="0"/>
          </a:p>
        </p:txBody>
      </p:sp>
      <p:sp>
        <p:nvSpPr>
          <p:cNvPr id="123" name="Text 109"/>
          <p:cNvSpPr/>
          <p:nvPr/>
        </p:nvSpPr>
        <p:spPr>
          <a:xfrm>
            <a:off x="1719072" y="16651224"/>
            <a:ext cx="2542032" cy="219456"/>
          </a:xfrm>
          <a:prstGeom prst="rect">
            <a:avLst/>
          </a:prstGeom>
          <a:noFill/>
          <a:ln/>
        </p:spPr>
        <p:txBody>
          <a:bodyPr wrap="square" lIns="0" tIns="0" rIns="0" bIns="0" rtlCol="0" anchor="ctr">
            <a:normAutofit/>
          </a:bodyPr>
          <a:lstStyle/>
          <a:p>
            <a:pPr indent="0" marL="0">
              <a:buNone/>
            </a:pPr>
            <a:r>
              <a:rPr lang="en-US" sz="710" dirty="0">
                <a:solidFill>
                  <a:srgbClr val="5F6B76"/>
                </a:solidFill>
              </a:rPr>
              <a:t>498 active users</a:t>
            </a:r>
            <a:endParaRPr lang="en-US" sz="710" dirty="0"/>
          </a:p>
        </p:txBody>
      </p:sp>
      <p:pic>
        <p:nvPicPr>
          <p:cNvPr id="124" name="Image 12" descr="preencoded.png">    </p:cNvPr>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640080" y="17053560"/>
            <a:ext cx="256032" cy="256032"/>
          </a:xfrm>
          <a:prstGeom prst="rect">
            <a:avLst/>
          </a:prstGeom>
        </p:spPr>
      </p:pic>
      <p:sp>
        <p:nvSpPr>
          <p:cNvPr id="125" name="Text 110"/>
          <p:cNvSpPr/>
          <p:nvPr/>
        </p:nvSpPr>
        <p:spPr>
          <a:xfrm>
            <a:off x="987552" y="17062704"/>
            <a:ext cx="777240" cy="155448"/>
          </a:xfrm>
          <a:prstGeom prst="rect">
            <a:avLst/>
          </a:prstGeom>
          <a:noFill/>
          <a:ln/>
        </p:spPr>
        <p:txBody>
          <a:bodyPr wrap="square" lIns="0" tIns="0" rIns="0" bIns="0" rtlCol="0" anchor="ctr"/>
          <a:lstStyle/>
          <a:p>
            <a:pPr indent="0" marL="0">
              <a:buNone/>
            </a:pPr>
            <a:r>
              <a:rPr lang="en-US" sz="750" b="1" dirty="0">
                <a:solidFill>
                  <a:srgbClr val="1E2933"/>
                </a:solidFill>
              </a:rPr>
              <a:t>Hosts</a:t>
            </a:r>
            <a:endParaRPr lang="en-US" sz="750" dirty="0"/>
          </a:p>
        </p:txBody>
      </p:sp>
      <p:sp>
        <p:nvSpPr>
          <p:cNvPr id="126" name="Text 111"/>
          <p:cNvSpPr/>
          <p:nvPr/>
        </p:nvSpPr>
        <p:spPr>
          <a:xfrm>
            <a:off x="1719072" y="17062704"/>
            <a:ext cx="2542032" cy="219456"/>
          </a:xfrm>
          <a:prstGeom prst="rect">
            <a:avLst/>
          </a:prstGeom>
          <a:noFill/>
          <a:ln/>
        </p:spPr>
        <p:txBody>
          <a:bodyPr wrap="square" lIns="0" tIns="0" rIns="0" bIns="0" rtlCol="0" anchor="ctr">
            <a:normAutofit/>
          </a:bodyPr>
          <a:lstStyle/>
          <a:p>
            <a:pPr indent="0" marL="0">
              <a:buNone/>
            </a:pPr>
            <a:r>
              <a:rPr lang="en-US" sz="710" dirty="0">
                <a:solidFill>
                  <a:srgbClr val="5F6B76"/>
                </a:solidFill>
              </a:rPr>
              <a:t>150 destination hosts, including DC-01</a:t>
            </a:r>
            <a:endParaRPr lang="en-US" sz="710" dirty="0"/>
          </a:p>
        </p:txBody>
      </p:sp>
      <p:pic>
        <p:nvPicPr>
          <p:cNvPr id="127" name="Image 13" descr="preencoded.png">    </p:cNvPr>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656082" y="17465040"/>
            <a:ext cx="224028" cy="256032"/>
          </a:xfrm>
          <a:prstGeom prst="rect">
            <a:avLst/>
          </a:prstGeom>
        </p:spPr>
      </p:pic>
      <p:sp>
        <p:nvSpPr>
          <p:cNvPr id="128" name="Text 112"/>
          <p:cNvSpPr/>
          <p:nvPr/>
        </p:nvSpPr>
        <p:spPr>
          <a:xfrm>
            <a:off x="987552" y="17474184"/>
            <a:ext cx="777240" cy="155448"/>
          </a:xfrm>
          <a:prstGeom prst="rect">
            <a:avLst/>
          </a:prstGeom>
          <a:noFill/>
          <a:ln/>
        </p:spPr>
        <p:txBody>
          <a:bodyPr wrap="square" lIns="0" tIns="0" rIns="0" bIns="0" rtlCol="0" anchor="ctr"/>
          <a:lstStyle/>
          <a:p>
            <a:pPr indent="0" marL="0">
              <a:buNone/>
            </a:pPr>
            <a:r>
              <a:rPr lang="en-US" sz="750" b="1" dirty="0">
                <a:solidFill>
                  <a:srgbClr val="1E2933"/>
                </a:solidFill>
              </a:rPr>
              <a:t>Chains</a:t>
            </a:r>
            <a:endParaRPr lang="en-US" sz="750" dirty="0"/>
          </a:p>
        </p:txBody>
      </p:sp>
      <p:sp>
        <p:nvSpPr>
          <p:cNvPr id="129" name="Text 113"/>
          <p:cNvSpPr/>
          <p:nvPr/>
        </p:nvSpPr>
        <p:spPr>
          <a:xfrm>
            <a:off x="1719072" y="17474184"/>
            <a:ext cx="2542032" cy="219456"/>
          </a:xfrm>
          <a:prstGeom prst="rect">
            <a:avLst/>
          </a:prstGeom>
          <a:noFill/>
          <a:ln/>
        </p:spPr>
        <p:txBody>
          <a:bodyPr wrap="square" lIns="0" tIns="0" rIns="0" bIns="0" rtlCol="0" anchor="ctr">
            <a:normAutofit/>
          </a:bodyPr>
          <a:lstStyle/>
          <a:p>
            <a:pPr indent="0" marL="0">
              <a:buNone/>
            </a:pPr>
            <a:r>
              <a:rPr lang="en-US" sz="710" dirty="0">
                <a:solidFill>
                  <a:srgbClr val="5F6B76"/>
                </a:solidFill>
              </a:rPr>
              <a:t>16,391 labeled T1078/T1021 chains</a:t>
            </a:r>
            <a:endParaRPr lang="en-US" sz="710" dirty="0"/>
          </a:p>
        </p:txBody>
      </p:sp>
      <p:pic>
        <p:nvPicPr>
          <p:cNvPr id="130" name="Image 14" descr="preencoded.png">    </p:cNvPr>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640080" y="17890744"/>
            <a:ext cx="256032" cy="227584"/>
          </a:xfrm>
          <a:prstGeom prst="rect">
            <a:avLst/>
          </a:prstGeom>
        </p:spPr>
      </p:pic>
      <p:sp>
        <p:nvSpPr>
          <p:cNvPr id="131" name="Text 114"/>
          <p:cNvSpPr/>
          <p:nvPr/>
        </p:nvSpPr>
        <p:spPr>
          <a:xfrm>
            <a:off x="987552" y="17885664"/>
            <a:ext cx="777240" cy="155448"/>
          </a:xfrm>
          <a:prstGeom prst="rect">
            <a:avLst/>
          </a:prstGeom>
          <a:noFill/>
          <a:ln/>
        </p:spPr>
        <p:txBody>
          <a:bodyPr wrap="square" lIns="0" tIns="0" rIns="0" bIns="0" rtlCol="0" anchor="ctr"/>
          <a:lstStyle/>
          <a:p>
            <a:pPr indent="0" marL="0">
              <a:buNone/>
            </a:pPr>
            <a:r>
              <a:rPr lang="en-US" sz="750" b="1" dirty="0">
                <a:solidFill>
                  <a:srgbClr val="1E2933"/>
                </a:solidFill>
              </a:rPr>
              <a:t>Labels</a:t>
            </a:r>
            <a:endParaRPr lang="en-US" sz="750" dirty="0"/>
          </a:p>
        </p:txBody>
      </p:sp>
      <p:sp>
        <p:nvSpPr>
          <p:cNvPr id="132" name="Text 115"/>
          <p:cNvSpPr/>
          <p:nvPr/>
        </p:nvSpPr>
        <p:spPr>
          <a:xfrm>
            <a:off x="1719072" y="17885664"/>
            <a:ext cx="2542032" cy="219456"/>
          </a:xfrm>
          <a:prstGeom prst="rect">
            <a:avLst/>
          </a:prstGeom>
          <a:noFill/>
          <a:ln/>
        </p:spPr>
        <p:txBody>
          <a:bodyPr wrap="square" lIns="0" tIns="0" rIns="0" bIns="0" rtlCol="0" anchor="ctr">
            <a:normAutofit/>
          </a:bodyPr>
          <a:lstStyle/>
          <a:p>
            <a:pPr indent="0" marL="0">
              <a:buNone/>
            </a:pPr>
            <a:r>
              <a:rPr lang="en-US" sz="710" dirty="0">
                <a:solidFill>
                  <a:srgbClr val="5F6B76"/>
                </a:solidFill>
              </a:rPr>
              <a:t>115,140 benign and 64,860 malicious events</a:t>
            </a:r>
            <a:endParaRPr lang="en-US" sz="710" dirty="0"/>
          </a:p>
        </p:txBody>
      </p:sp>
      <p:sp>
        <p:nvSpPr>
          <p:cNvPr id="133" name="Text 116"/>
          <p:cNvSpPr/>
          <p:nvPr/>
        </p:nvSpPr>
        <p:spPr>
          <a:xfrm>
            <a:off x="640080" y="18333720"/>
            <a:ext cx="1828800" cy="201168"/>
          </a:xfrm>
          <a:prstGeom prst="rect">
            <a:avLst/>
          </a:prstGeom>
          <a:noFill/>
          <a:ln/>
        </p:spPr>
        <p:txBody>
          <a:bodyPr wrap="square" lIns="0" tIns="0" rIns="0" bIns="0" rtlCol="0" anchor="ctr"/>
          <a:lstStyle/>
          <a:p>
            <a:pPr indent="0" marL="0">
              <a:buNone/>
            </a:pPr>
            <a:r>
              <a:rPr lang="en-US" sz="920" b="1" dirty="0">
                <a:solidFill>
                  <a:srgbClr val="2E77B8"/>
                </a:solidFill>
                <a:latin typeface="Liberation Sans" pitchFamily="34" charset="0"/>
                <a:ea typeface="Liberation Sans" pitchFamily="34" charset="-122"/>
                <a:cs typeface="Liberation Sans" pitchFamily="34" charset="-120"/>
              </a:rPr>
              <a:t>Chronological design</a:t>
            </a:r>
            <a:endParaRPr lang="en-US" sz="920" dirty="0"/>
          </a:p>
        </p:txBody>
      </p:sp>
      <p:sp>
        <p:nvSpPr>
          <p:cNvPr id="134" name="Text 117"/>
          <p:cNvSpPr/>
          <p:nvPr/>
        </p:nvSpPr>
        <p:spPr>
          <a:xfrm>
            <a:off x="676656" y="18635472"/>
            <a:ext cx="3822192" cy="1261872"/>
          </a:xfrm>
          <a:prstGeom prst="rect">
            <a:avLst/>
          </a:prstGeom>
          <a:noFill/>
          <a:ln/>
        </p:spPr>
        <p:txBody>
          <a:bodyPr wrap="square" lIns="254" tIns="254" rIns="254" bIns="254" rtlCol="0" anchor="t">
            <a:normAutofit/>
          </a:bodyPr>
          <a:lstStyle/>
          <a:p>
            <a:pPr marL="121349" indent="-121349">
              <a:buSzPct val="100000"/>
              <a:buChar char="•"/>
            </a:pPr>
            <a:r>
              <a:rPr lang="en-US" sz="735" dirty="0">
                <a:solidFill>
                  <a:srgbClr val="1E2933"/>
                </a:solidFill>
                <a:latin typeface="Liberation Sans" pitchFamily="34" charset="0"/>
                <a:ea typeface="Liberation Sans" pitchFamily="34" charset="-122"/>
                <a:cs typeface="Liberation Sans" pitchFamily="34" charset="-120"/>
              </a:rPr>
              <a:t>Baseline: 42,000 benign events, days 1-7</a:t>
            </a:r>
            <a:endParaRPr lang="en-US" sz="735" dirty="0"/>
          </a:p>
          <a:p>
            <a:pPr marL="121349" indent="-121349">
              <a:buSzPct val="100000"/>
              <a:buChar char="•"/>
            </a:pPr>
            <a:r>
              <a:rPr lang="en-US" sz="735" dirty="0">
                <a:solidFill>
                  <a:srgbClr val="1E2933"/>
                </a:solidFill>
                <a:latin typeface="Liberation Sans" pitchFamily="34" charset="0"/>
                <a:ea typeface="Liberation Sans" pitchFamily="34" charset="-122"/>
                <a:cs typeface="Liberation Sans" pitchFamily="34" charset="-120"/>
              </a:rPr>
              <a:t>Fit: 48,000 events, days 8-15</a:t>
            </a:r>
            <a:endParaRPr lang="en-US" sz="735" dirty="0"/>
          </a:p>
          <a:p>
            <a:pPr marL="121349" indent="-121349">
              <a:buSzPct val="100000"/>
              <a:buChar char="•"/>
            </a:pPr>
            <a:r>
              <a:rPr lang="en-US" sz="735" dirty="0">
                <a:solidFill>
                  <a:srgbClr val="1E2933"/>
                </a:solidFill>
                <a:latin typeface="Liberation Sans" pitchFamily="34" charset="0"/>
                <a:ea typeface="Liberation Sans" pitchFamily="34" charset="-122"/>
                <a:cs typeface="Liberation Sans" pitchFamily="34" charset="-120"/>
              </a:rPr>
              <a:t>Held-out test: 90,000 events, days 16-30</a:t>
            </a:r>
            <a:endParaRPr lang="en-US" sz="735" dirty="0"/>
          </a:p>
          <a:p>
            <a:pPr marL="121349" indent="-121349">
              <a:buSzPct val="100000"/>
              <a:buChar char="•"/>
            </a:pPr>
            <a:r>
              <a:rPr lang="en-US" sz="735" dirty="0">
                <a:solidFill>
                  <a:srgbClr val="1E2933"/>
                </a:solidFill>
                <a:latin typeface="Liberation Sans" pitchFamily="34" charset="0"/>
                <a:ea typeface="Liberation Sans" pitchFamily="34" charset="-122"/>
                <a:cs typeface="Liberation Sans" pitchFamily="34" charset="-120"/>
              </a:rPr>
              <a:t>Equal test alert budget: 32,013 alerts per method</a:t>
            </a:r>
            <a:endParaRPr lang="en-US" sz="735" dirty="0"/>
          </a:p>
        </p:txBody>
      </p:sp>
      <p:sp>
        <p:nvSpPr>
          <p:cNvPr id="135" name="Text 118"/>
          <p:cNvSpPr/>
          <p:nvPr/>
        </p:nvSpPr>
        <p:spPr>
          <a:xfrm>
            <a:off x="640080" y="19860768"/>
            <a:ext cx="1188720" cy="201168"/>
          </a:xfrm>
          <a:prstGeom prst="rect">
            <a:avLst/>
          </a:prstGeom>
          <a:noFill/>
          <a:ln/>
        </p:spPr>
        <p:txBody>
          <a:bodyPr wrap="square" lIns="0" tIns="0" rIns="0" bIns="0" rtlCol="0" anchor="ctr"/>
          <a:lstStyle/>
          <a:p>
            <a:pPr indent="0" marL="0">
              <a:buNone/>
            </a:pPr>
            <a:r>
              <a:rPr lang="en-US" sz="920" b="1" dirty="0">
                <a:solidFill>
                  <a:srgbClr val="2E77B8"/>
                </a:solidFill>
                <a:latin typeface="Liberation Sans" pitchFamily="34" charset="0"/>
                <a:ea typeface="Liberation Sans" pitchFamily="34" charset="-122"/>
                <a:cs typeface="Liberation Sans" pitchFamily="34" charset="-120"/>
              </a:rPr>
              <a:t>Metrics</a:t>
            </a:r>
            <a:endParaRPr lang="en-US" sz="920" dirty="0"/>
          </a:p>
        </p:txBody>
      </p:sp>
      <p:pic>
        <p:nvPicPr>
          <p:cNvPr id="136" name="Image 15" descr="preencoded.png">    </p:cNvPr>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640080" y="20135088"/>
            <a:ext cx="256032" cy="256032"/>
          </a:xfrm>
          <a:prstGeom prst="rect">
            <a:avLst/>
          </a:prstGeom>
        </p:spPr>
      </p:pic>
      <p:sp>
        <p:nvSpPr>
          <p:cNvPr id="137" name="Text 119"/>
          <p:cNvSpPr/>
          <p:nvPr/>
        </p:nvSpPr>
        <p:spPr>
          <a:xfrm>
            <a:off x="987552" y="20144232"/>
            <a:ext cx="777240" cy="155448"/>
          </a:xfrm>
          <a:prstGeom prst="rect">
            <a:avLst/>
          </a:prstGeom>
          <a:noFill/>
          <a:ln/>
        </p:spPr>
        <p:txBody>
          <a:bodyPr wrap="square" lIns="0" tIns="0" rIns="0" bIns="0" rtlCol="0" anchor="ctr"/>
          <a:lstStyle/>
          <a:p>
            <a:pPr indent="0" marL="0">
              <a:buNone/>
            </a:pPr>
            <a:r>
              <a:rPr lang="en-US" sz="750" b="1" dirty="0">
                <a:solidFill>
                  <a:srgbClr val="1E2933"/>
                </a:solidFill>
              </a:rPr>
              <a:t>Precision</a:t>
            </a:r>
            <a:endParaRPr lang="en-US" sz="750" dirty="0"/>
          </a:p>
        </p:txBody>
      </p:sp>
      <p:sp>
        <p:nvSpPr>
          <p:cNvPr id="138" name="Text 120"/>
          <p:cNvSpPr/>
          <p:nvPr/>
        </p:nvSpPr>
        <p:spPr>
          <a:xfrm>
            <a:off x="1719072" y="20144232"/>
            <a:ext cx="2542032" cy="219456"/>
          </a:xfrm>
          <a:prstGeom prst="rect">
            <a:avLst/>
          </a:prstGeom>
          <a:noFill/>
          <a:ln/>
        </p:spPr>
        <p:txBody>
          <a:bodyPr wrap="square" lIns="0" tIns="0" rIns="0" bIns="0" rtlCol="0" anchor="ctr">
            <a:normAutofit/>
          </a:bodyPr>
          <a:lstStyle/>
          <a:p>
            <a:pPr indent="0" marL="0">
              <a:buNone/>
            </a:pPr>
            <a:r>
              <a:rPr lang="en-US" sz="710" dirty="0">
                <a:solidFill>
                  <a:srgbClr val="5F6B76"/>
                </a:solidFill>
              </a:rPr>
              <a:t>Fraction of alerts that are malicious</a:t>
            </a:r>
            <a:endParaRPr lang="en-US" sz="710" dirty="0"/>
          </a:p>
        </p:txBody>
      </p:sp>
      <p:pic>
        <p:nvPicPr>
          <p:cNvPr id="139" name="Image 16" descr="preencoded.png">    </p:cNvPr>
          <p:cNvPicPr>
            <a:picLocks noChangeAspect="1"/>
          </p:cNvPicPr>
          <p:nvPr/>
        </p:nvPicPr>
        <p:blipFill>
          <a:blip r:embed="rId33">
            <a:extLst>
              <a:ext uri="{96DAC541-7B7A-43D3-8B79-37D633B846F1}">
                <asvg:svgBlip xmlns:asvg="http://schemas.microsoft.com/office/drawing/2016/SVG/main" r:embed="rId34"/>
              </a:ext>
            </a:extLst>
          </a:blip>
          <a:stretch>
            <a:fillRect/>
          </a:stretch>
        </p:blipFill>
        <p:spPr>
          <a:xfrm>
            <a:off x="640080" y="20464272"/>
            <a:ext cx="256032" cy="256032"/>
          </a:xfrm>
          <a:prstGeom prst="rect">
            <a:avLst/>
          </a:prstGeom>
        </p:spPr>
      </p:pic>
      <p:sp>
        <p:nvSpPr>
          <p:cNvPr id="140" name="Text 121"/>
          <p:cNvSpPr/>
          <p:nvPr/>
        </p:nvSpPr>
        <p:spPr>
          <a:xfrm>
            <a:off x="987552" y="20473416"/>
            <a:ext cx="777240" cy="155448"/>
          </a:xfrm>
          <a:prstGeom prst="rect">
            <a:avLst/>
          </a:prstGeom>
          <a:noFill/>
          <a:ln/>
        </p:spPr>
        <p:txBody>
          <a:bodyPr wrap="square" lIns="0" tIns="0" rIns="0" bIns="0" rtlCol="0" anchor="ctr"/>
          <a:lstStyle/>
          <a:p>
            <a:pPr indent="0" marL="0">
              <a:buNone/>
            </a:pPr>
            <a:r>
              <a:rPr lang="en-US" sz="750" b="1" dirty="0">
                <a:solidFill>
                  <a:srgbClr val="1E2933"/>
                </a:solidFill>
              </a:rPr>
              <a:t>Recall</a:t>
            </a:r>
            <a:endParaRPr lang="en-US" sz="750" dirty="0"/>
          </a:p>
        </p:txBody>
      </p:sp>
      <p:sp>
        <p:nvSpPr>
          <p:cNvPr id="141" name="Text 122"/>
          <p:cNvSpPr/>
          <p:nvPr/>
        </p:nvSpPr>
        <p:spPr>
          <a:xfrm>
            <a:off x="1719072" y="20473416"/>
            <a:ext cx="2542032" cy="219456"/>
          </a:xfrm>
          <a:prstGeom prst="rect">
            <a:avLst/>
          </a:prstGeom>
          <a:noFill/>
          <a:ln/>
        </p:spPr>
        <p:txBody>
          <a:bodyPr wrap="square" lIns="0" tIns="0" rIns="0" bIns="0" rtlCol="0" anchor="ctr">
            <a:normAutofit/>
          </a:bodyPr>
          <a:lstStyle/>
          <a:p>
            <a:pPr indent="0" marL="0">
              <a:buNone/>
            </a:pPr>
            <a:r>
              <a:rPr lang="en-US" sz="710" dirty="0">
                <a:solidFill>
                  <a:srgbClr val="5F6B76"/>
                </a:solidFill>
              </a:rPr>
              <a:t>Fraction of malicious events detected</a:t>
            </a:r>
            <a:endParaRPr lang="en-US" sz="710" dirty="0"/>
          </a:p>
        </p:txBody>
      </p:sp>
      <p:pic>
        <p:nvPicPr>
          <p:cNvPr id="142" name="Image 17" descr="preencoded.png">    </p:cNvPr>
          <p:cNvPicPr>
            <a:picLocks noChangeAspect="1"/>
          </p:cNvPicPr>
          <p:nvPr/>
        </p:nvPicPr>
        <p:blipFill>
          <a:blip r:embed="rId35">
            <a:extLst>
              <a:ext uri="{96DAC541-7B7A-43D3-8B79-37D633B846F1}">
                <asvg:svgBlip xmlns:asvg="http://schemas.microsoft.com/office/drawing/2016/SVG/main" r:embed="rId36"/>
              </a:ext>
            </a:extLst>
          </a:blip>
          <a:stretch>
            <a:fillRect/>
          </a:stretch>
        </p:blipFill>
        <p:spPr>
          <a:xfrm>
            <a:off x="640080" y="20793456"/>
            <a:ext cx="256032" cy="256032"/>
          </a:xfrm>
          <a:prstGeom prst="rect">
            <a:avLst/>
          </a:prstGeom>
        </p:spPr>
      </p:pic>
      <p:sp>
        <p:nvSpPr>
          <p:cNvPr id="143" name="Text 123"/>
          <p:cNvSpPr/>
          <p:nvPr/>
        </p:nvSpPr>
        <p:spPr>
          <a:xfrm>
            <a:off x="987552" y="20802600"/>
            <a:ext cx="777240" cy="155448"/>
          </a:xfrm>
          <a:prstGeom prst="rect">
            <a:avLst/>
          </a:prstGeom>
          <a:noFill/>
          <a:ln/>
        </p:spPr>
        <p:txBody>
          <a:bodyPr wrap="square" lIns="0" tIns="0" rIns="0" bIns="0" rtlCol="0" anchor="ctr"/>
          <a:lstStyle/>
          <a:p>
            <a:pPr indent="0" marL="0">
              <a:buNone/>
            </a:pPr>
            <a:r>
              <a:rPr lang="en-US" sz="750" b="1" dirty="0">
                <a:solidFill>
                  <a:srgbClr val="1E2933"/>
                </a:solidFill>
              </a:rPr>
              <a:t>FPR</a:t>
            </a:r>
            <a:endParaRPr lang="en-US" sz="750" dirty="0"/>
          </a:p>
        </p:txBody>
      </p:sp>
      <p:sp>
        <p:nvSpPr>
          <p:cNvPr id="144" name="Text 124"/>
          <p:cNvSpPr/>
          <p:nvPr/>
        </p:nvSpPr>
        <p:spPr>
          <a:xfrm>
            <a:off x="1719072" y="20802600"/>
            <a:ext cx="2542032" cy="219456"/>
          </a:xfrm>
          <a:prstGeom prst="rect">
            <a:avLst/>
          </a:prstGeom>
          <a:noFill/>
          <a:ln/>
        </p:spPr>
        <p:txBody>
          <a:bodyPr wrap="square" lIns="0" tIns="0" rIns="0" bIns="0" rtlCol="0" anchor="ctr">
            <a:normAutofit/>
          </a:bodyPr>
          <a:lstStyle/>
          <a:p>
            <a:pPr indent="0" marL="0">
              <a:buNone/>
            </a:pPr>
            <a:r>
              <a:rPr lang="en-US" sz="710" dirty="0">
                <a:solidFill>
                  <a:srgbClr val="5F6B76"/>
                </a:solidFill>
              </a:rPr>
              <a:t>FP divided by all benign events</a:t>
            </a:r>
            <a:endParaRPr lang="en-US" sz="710" dirty="0"/>
          </a:p>
        </p:txBody>
      </p:sp>
      <p:sp>
        <p:nvSpPr>
          <p:cNvPr id="145" name="Shape 125"/>
          <p:cNvSpPr/>
          <p:nvPr/>
        </p:nvSpPr>
        <p:spPr>
          <a:xfrm>
            <a:off x="658368" y="21104352"/>
            <a:ext cx="3721608" cy="283464"/>
          </a:xfrm>
          <a:prstGeom prst="roundRect">
            <a:avLst>
              <a:gd name="adj" fmla="val 9677"/>
            </a:avLst>
          </a:prstGeom>
          <a:solidFill>
            <a:srgbClr val="FFF5D8"/>
          </a:solidFill>
          <a:ln w="10160">
            <a:solidFill>
              <a:srgbClr val="F0B44D"/>
            </a:solidFill>
            <a:prstDash val="solid"/>
          </a:ln>
        </p:spPr>
      </p:sp>
      <p:sp>
        <p:nvSpPr>
          <p:cNvPr id="146" name="Text 126"/>
          <p:cNvSpPr/>
          <p:nvPr/>
        </p:nvSpPr>
        <p:spPr>
          <a:xfrm>
            <a:off x="795528" y="21177504"/>
            <a:ext cx="3447288" cy="118872"/>
          </a:xfrm>
          <a:prstGeom prst="rect">
            <a:avLst/>
          </a:prstGeom>
          <a:noFill/>
          <a:ln/>
        </p:spPr>
        <p:txBody>
          <a:bodyPr wrap="square" lIns="0" tIns="0" rIns="0" bIns="0" rtlCol="0" anchor="ctr"/>
          <a:lstStyle/>
          <a:p>
            <a:pPr algn="ctr" indent="0" marL="0">
              <a:buNone/>
            </a:pPr>
            <a:r>
              <a:rPr lang="en-US" sz="665" b="1" dirty="0">
                <a:solidFill>
                  <a:srgbClr val="6F4D00"/>
                </a:solidFill>
              </a:rPr>
              <a:t>Attack-enriched benchmark: 36% malicious overall and 47% malicious in the test period.</a:t>
            </a:r>
            <a:endParaRPr lang="en-US" sz="665" dirty="0"/>
          </a:p>
        </p:txBody>
      </p:sp>
      <p:sp>
        <p:nvSpPr>
          <p:cNvPr id="147" name="Text 127"/>
          <p:cNvSpPr/>
          <p:nvPr/>
        </p:nvSpPr>
        <p:spPr>
          <a:xfrm>
            <a:off x="5504688" y="15864840"/>
            <a:ext cx="7571232" cy="347472"/>
          </a:xfrm>
          <a:prstGeom prst="rect">
            <a:avLst/>
          </a:prstGeom>
          <a:noFill/>
          <a:ln/>
        </p:spPr>
        <p:txBody>
          <a:bodyPr wrap="square" lIns="381" tIns="381" rIns="381" bIns="381" rtlCol="0" anchor="t">
            <a:normAutofit/>
          </a:bodyPr>
          <a:lstStyle/>
          <a:p>
            <a:pPr algn="ctr" indent="0" marL="0">
              <a:lnSpc>
                <a:spcPct val="95000"/>
              </a:lnSpc>
              <a:buNone/>
            </a:pPr>
            <a:r>
              <a:rPr lang="en-US" sz="810" b="1" dirty="0">
                <a:solidFill>
                  <a:srgbClr val="1E2933"/>
                </a:solidFill>
                <a:latin typeface="Liberation Sans" pitchFamily="34" charset="0"/>
                <a:ea typeface="Liberation Sans" pitchFamily="34" charset="-122"/>
                <a:cs typeface="Liberation Sans" pitchFamily="34" charset="-120"/>
              </a:rPr>
              <a:t>Under the same 32,013-alert review budget, the graph-based method improved every event-level metric on the held-out test set.</a:t>
            </a:r>
            <a:endParaRPr lang="en-US" sz="81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5513832" y="16331184"/>
          <a:ext cx="3749040" cy="960120"/>
        </p:xfrm>
        <a:graphic>
          <a:graphicData uri="http://schemas.openxmlformats.org/drawingml/2006/table">
            <a:tbl>
              <a:tblPr/>
              <a:tblGrid>
                <a:gridCol w="1417320"/>
                <a:gridCol w="777240"/>
                <a:gridCol w="777240"/>
                <a:gridCol w="777240"/>
              </a:tblGrid>
              <a:tr h="292608">
                <a:tc>
                  <a:txBody>
                    <a:bodyPr/>
                    <a:lstStyle/>
                    <a:p>
                      <a:pPr algn="ctr" indent="0" marL="0">
                        <a:buNone/>
                      </a:pPr>
                      <a:r>
                        <a:rPr lang="en-US" sz="740" b="1" dirty="0">
                          <a:solidFill>
                            <a:srgbClr val="FFFFFF"/>
                          </a:solidFill>
                          <a:latin typeface="Liberation Sans" pitchFamily="34" charset="0"/>
                          <a:ea typeface="Liberation Sans" pitchFamily="34" charset="-122"/>
                          <a:cs typeface="Liberation Sans" pitchFamily="34" charset="-120"/>
                        </a:rPr>
                        <a:t>Method</a:t>
                      </a:r>
                      <a:endParaRPr lang="en-US" sz="740" dirty="0">
                        <a:latin typeface="Liberation Sans" charset="0"/>
                        <a:ea typeface="Liberation Sans" charset="0"/>
                        <a:cs typeface="Liberation Sans" charset="0"/>
                      </a:endParaRPr>
                    </a:p>
                  </a:txBody>
                  <a:tcPr marL="36576" marR="36576" marT="36576" marB="36576" anchor="mid">
                    <a:lnL w="8890" cap="flat" cmpd="sng" algn="ctr">
                      <a:solidFill>
                        <a:srgbClr val="A9BDD0"/>
                      </a:solidFill>
                      <a:prstDash val="solid"/>
                      <a:round/>
                      <a:headEnd type="none" w="med" len="med"/>
                      <a:tailEnd type="none" w="med" len="med"/>
                    </a:lnL>
                    <a:lnR w="8890" cap="flat" cmpd="sng" algn="ctr">
                      <a:solidFill>
                        <a:srgbClr val="A9BDD0"/>
                      </a:solidFill>
                      <a:prstDash val="solid"/>
                      <a:round/>
                      <a:headEnd type="none" w="med" len="med"/>
                      <a:tailEnd type="none" w="med" len="med"/>
                    </a:lnR>
                    <a:lnT w="8890" cap="flat" cmpd="sng" algn="ctr">
                      <a:solidFill>
                        <a:srgbClr val="A9BDD0"/>
                      </a:solidFill>
                      <a:prstDash val="solid"/>
                      <a:round/>
                      <a:headEnd type="none" w="med" len="med"/>
                      <a:tailEnd type="none" w="med" len="med"/>
                    </a:lnT>
                    <a:lnB w="8890" cap="flat" cmpd="sng" algn="ctr">
                      <a:solidFill>
                        <a:srgbClr val="A9BDD0"/>
                      </a:solidFill>
                      <a:prstDash val="solid"/>
                      <a:round/>
                      <a:headEnd type="none" w="med" len="med"/>
                      <a:tailEnd type="none" w="med" len="med"/>
                    </a:lnB>
                    <a:solidFill>
                      <a:srgbClr val="FFFFFF"/>
                    </a:solidFill>
                  </a:tcPr>
                </a:tc>
                <a:tc>
                  <a:txBody>
                    <a:bodyPr/>
                    <a:lstStyle/>
                    <a:p>
                      <a:pPr algn="ctr" indent="0" marL="0">
                        <a:buNone/>
                      </a:pPr>
                      <a:r>
                        <a:rPr lang="en-US" sz="740" b="1" dirty="0">
                          <a:solidFill>
                            <a:srgbClr val="FFFFFF"/>
                          </a:solidFill>
                          <a:latin typeface="Liberation Sans" pitchFamily="34" charset="0"/>
                          <a:ea typeface="Liberation Sans" pitchFamily="34" charset="-122"/>
                          <a:cs typeface="Liberation Sans" pitchFamily="34" charset="-120"/>
                        </a:rPr>
                        <a:t>Precision</a:t>
                      </a:r>
                      <a:endParaRPr lang="en-US" sz="740" dirty="0">
                        <a:latin typeface="Liberation Sans" charset="0"/>
                        <a:ea typeface="Liberation Sans" charset="0"/>
                        <a:cs typeface="Liberation Sans" charset="0"/>
                      </a:endParaRPr>
                    </a:p>
                  </a:txBody>
                  <a:tcPr marL="36576" marR="36576" marT="36576" marB="36576" anchor="mid">
                    <a:lnL w="8890" cap="flat" cmpd="sng" algn="ctr">
                      <a:solidFill>
                        <a:srgbClr val="A9BDD0"/>
                      </a:solidFill>
                      <a:prstDash val="solid"/>
                      <a:round/>
                      <a:headEnd type="none" w="med" len="med"/>
                      <a:tailEnd type="none" w="med" len="med"/>
                    </a:lnL>
                    <a:lnR w="8890" cap="flat" cmpd="sng" algn="ctr">
                      <a:solidFill>
                        <a:srgbClr val="A9BDD0"/>
                      </a:solidFill>
                      <a:prstDash val="solid"/>
                      <a:round/>
                      <a:headEnd type="none" w="med" len="med"/>
                      <a:tailEnd type="none" w="med" len="med"/>
                    </a:lnR>
                    <a:lnT w="8890" cap="flat" cmpd="sng" algn="ctr">
                      <a:solidFill>
                        <a:srgbClr val="A9BDD0"/>
                      </a:solidFill>
                      <a:prstDash val="solid"/>
                      <a:round/>
                      <a:headEnd type="none" w="med" len="med"/>
                      <a:tailEnd type="none" w="med" len="med"/>
                    </a:lnT>
                    <a:lnB w="8890" cap="flat" cmpd="sng" algn="ctr">
                      <a:solidFill>
                        <a:srgbClr val="A9BDD0"/>
                      </a:solidFill>
                      <a:prstDash val="solid"/>
                      <a:round/>
                      <a:headEnd type="none" w="med" len="med"/>
                      <a:tailEnd type="none" w="med" len="med"/>
                    </a:lnB>
                    <a:solidFill>
                      <a:srgbClr val="FFFFFF"/>
                    </a:solidFill>
                  </a:tcPr>
                </a:tc>
                <a:tc>
                  <a:txBody>
                    <a:bodyPr/>
                    <a:lstStyle/>
                    <a:p>
                      <a:pPr algn="ctr" indent="0" marL="0">
                        <a:buNone/>
                      </a:pPr>
                      <a:r>
                        <a:rPr lang="en-US" sz="740" b="1" dirty="0">
                          <a:solidFill>
                            <a:srgbClr val="FFFFFF"/>
                          </a:solidFill>
                          <a:latin typeface="Liberation Sans" pitchFamily="34" charset="0"/>
                          <a:ea typeface="Liberation Sans" pitchFamily="34" charset="-122"/>
                          <a:cs typeface="Liberation Sans" pitchFamily="34" charset="-120"/>
                        </a:rPr>
                        <a:t>Recall</a:t>
                      </a:r>
                      <a:endParaRPr lang="en-US" sz="740" dirty="0">
                        <a:latin typeface="Liberation Sans" charset="0"/>
                        <a:ea typeface="Liberation Sans" charset="0"/>
                        <a:cs typeface="Liberation Sans" charset="0"/>
                      </a:endParaRPr>
                    </a:p>
                  </a:txBody>
                  <a:tcPr marL="36576" marR="36576" marT="36576" marB="36576" anchor="mid">
                    <a:lnL w="8890" cap="flat" cmpd="sng" algn="ctr">
                      <a:solidFill>
                        <a:srgbClr val="A9BDD0"/>
                      </a:solidFill>
                      <a:prstDash val="solid"/>
                      <a:round/>
                      <a:headEnd type="none" w="med" len="med"/>
                      <a:tailEnd type="none" w="med" len="med"/>
                    </a:lnL>
                    <a:lnR w="8890" cap="flat" cmpd="sng" algn="ctr">
                      <a:solidFill>
                        <a:srgbClr val="A9BDD0"/>
                      </a:solidFill>
                      <a:prstDash val="solid"/>
                      <a:round/>
                      <a:headEnd type="none" w="med" len="med"/>
                      <a:tailEnd type="none" w="med" len="med"/>
                    </a:lnR>
                    <a:lnT w="8890" cap="flat" cmpd="sng" algn="ctr">
                      <a:solidFill>
                        <a:srgbClr val="A9BDD0"/>
                      </a:solidFill>
                      <a:prstDash val="solid"/>
                      <a:round/>
                      <a:headEnd type="none" w="med" len="med"/>
                      <a:tailEnd type="none" w="med" len="med"/>
                    </a:lnT>
                    <a:lnB w="8890" cap="flat" cmpd="sng" algn="ctr">
                      <a:solidFill>
                        <a:srgbClr val="A9BDD0"/>
                      </a:solidFill>
                      <a:prstDash val="solid"/>
                      <a:round/>
                      <a:headEnd type="none" w="med" len="med"/>
                      <a:tailEnd type="none" w="med" len="med"/>
                    </a:lnB>
                    <a:solidFill>
                      <a:srgbClr val="FFFFFF"/>
                    </a:solidFill>
                  </a:tcPr>
                </a:tc>
                <a:tc>
                  <a:txBody>
                    <a:bodyPr/>
                    <a:lstStyle/>
                    <a:p>
                      <a:pPr algn="ctr" indent="0" marL="0">
                        <a:buNone/>
                      </a:pPr>
                      <a:r>
                        <a:rPr lang="en-US" sz="740" b="1" dirty="0">
                          <a:solidFill>
                            <a:srgbClr val="FFFFFF"/>
                          </a:solidFill>
                          <a:latin typeface="Liberation Sans" pitchFamily="34" charset="0"/>
                          <a:ea typeface="Liberation Sans" pitchFamily="34" charset="-122"/>
                          <a:cs typeface="Liberation Sans" pitchFamily="34" charset="-120"/>
                        </a:rPr>
                        <a:t>FPR</a:t>
                      </a:r>
                      <a:endParaRPr lang="en-US" sz="740" dirty="0">
                        <a:latin typeface="Liberation Sans" charset="0"/>
                        <a:ea typeface="Liberation Sans" charset="0"/>
                        <a:cs typeface="Liberation Sans" charset="0"/>
                      </a:endParaRPr>
                    </a:p>
                  </a:txBody>
                  <a:tcPr marL="36576" marR="36576" marT="36576" marB="36576" anchor="mid">
                    <a:lnL w="8890" cap="flat" cmpd="sng" algn="ctr">
                      <a:solidFill>
                        <a:srgbClr val="A9BDD0"/>
                      </a:solidFill>
                      <a:prstDash val="solid"/>
                      <a:round/>
                      <a:headEnd type="none" w="med" len="med"/>
                      <a:tailEnd type="none" w="med" len="med"/>
                    </a:lnL>
                    <a:lnR w="8890" cap="flat" cmpd="sng" algn="ctr">
                      <a:solidFill>
                        <a:srgbClr val="A9BDD0"/>
                      </a:solidFill>
                      <a:prstDash val="solid"/>
                      <a:round/>
                      <a:headEnd type="none" w="med" len="med"/>
                      <a:tailEnd type="none" w="med" len="med"/>
                    </a:lnR>
                    <a:lnT w="8890" cap="flat" cmpd="sng" algn="ctr">
                      <a:solidFill>
                        <a:srgbClr val="A9BDD0"/>
                      </a:solidFill>
                      <a:prstDash val="solid"/>
                      <a:round/>
                      <a:headEnd type="none" w="med" len="med"/>
                      <a:tailEnd type="none" w="med" len="med"/>
                    </a:lnT>
                    <a:lnB w="8890" cap="flat" cmpd="sng" algn="ctr">
                      <a:solidFill>
                        <a:srgbClr val="A9BDD0"/>
                      </a:solidFill>
                      <a:prstDash val="solid"/>
                      <a:round/>
                      <a:headEnd type="none" w="med" len="med"/>
                      <a:tailEnd type="none" w="med" len="med"/>
                    </a:lnB>
                    <a:solidFill>
                      <a:srgbClr val="FFFFFF"/>
                    </a:solidFill>
                  </a:tcPr>
                </a:tc>
              </a:tr>
              <a:tr h="292608">
                <a:tc>
                  <a:txBody>
                    <a:bodyPr/>
                    <a:lstStyle/>
                    <a:p>
                      <a:pPr algn="ctr" indent="0" marL="0">
                        <a:buNone/>
                      </a:pPr>
                      <a:r>
                        <a:rPr lang="en-US" sz="740" dirty="0">
                          <a:solidFill>
                            <a:srgbClr val="1E2933"/>
                          </a:solidFill>
                          <a:latin typeface="Liberation Sans" pitchFamily="34" charset="0"/>
                          <a:ea typeface="Liberation Sans" pitchFamily="34" charset="-122"/>
                          <a:cs typeface="Liberation Sans" pitchFamily="34" charset="-120"/>
                        </a:rPr>
                        <a:t>Rule-Based</a:t>
                      </a:r>
                      <a:endParaRPr lang="en-US" sz="740" dirty="0">
                        <a:latin typeface="Liberation Sans" charset="0"/>
                        <a:ea typeface="Liberation Sans" charset="0"/>
                        <a:cs typeface="Liberation Sans" charset="0"/>
                      </a:endParaRPr>
                    </a:p>
                  </a:txBody>
                  <a:tcPr marL="36576" marR="36576" marT="36576" marB="36576" anchor="mid">
                    <a:lnL w="8890" cap="flat" cmpd="sng" algn="ctr">
                      <a:solidFill>
                        <a:srgbClr val="A9BDD0"/>
                      </a:solidFill>
                      <a:prstDash val="solid"/>
                      <a:round/>
                      <a:headEnd type="none" w="med" len="med"/>
                      <a:tailEnd type="none" w="med" len="med"/>
                    </a:lnL>
                    <a:lnR w="8890" cap="flat" cmpd="sng" algn="ctr">
                      <a:solidFill>
                        <a:srgbClr val="A9BDD0"/>
                      </a:solidFill>
                      <a:prstDash val="solid"/>
                      <a:round/>
                      <a:headEnd type="none" w="med" len="med"/>
                      <a:tailEnd type="none" w="med" len="med"/>
                    </a:lnR>
                    <a:lnT w="8890" cap="flat" cmpd="sng" algn="ctr">
                      <a:solidFill>
                        <a:srgbClr val="A9BDD0"/>
                      </a:solidFill>
                      <a:prstDash val="solid"/>
                      <a:round/>
                      <a:headEnd type="none" w="med" len="med"/>
                      <a:tailEnd type="none" w="med" len="med"/>
                    </a:lnT>
                    <a:lnB w="8890" cap="flat" cmpd="sng" algn="ctr">
                      <a:solidFill>
                        <a:srgbClr val="A9BDD0"/>
                      </a:solidFill>
                      <a:prstDash val="solid"/>
                      <a:round/>
                      <a:headEnd type="none" w="med" len="med"/>
                      <a:tailEnd type="none" w="med" len="med"/>
                    </a:lnB>
                    <a:solidFill>
                      <a:srgbClr val="FFFFFF"/>
                    </a:solidFill>
                  </a:tcPr>
                </a:tc>
                <a:tc>
                  <a:txBody>
                    <a:bodyPr/>
                    <a:lstStyle/>
                    <a:p>
                      <a:pPr algn="ctr" indent="0" marL="0">
                        <a:buNone/>
                      </a:pPr>
                      <a:r>
                        <a:rPr lang="en-US" sz="740" dirty="0">
                          <a:solidFill>
                            <a:srgbClr val="1E2933"/>
                          </a:solidFill>
                          <a:latin typeface="Liberation Sans" pitchFamily="34" charset="0"/>
                          <a:ea typeface="Liberation Sans" pitchFamily="34" charset="-122"/>
                          <a:cs typeface="Liberation Sans" pitchFamily="34" charset="-120"/>
                        </a:rPr>
                        <a:t>0.687</a:t>
                      </a:r>
                      <a:endParaRPr lang="en-US" sz="740" dirty="0">
                        <a:latin typeface="Liberation Sans" charset="0"/>
                        <a:ea typeface="Liberation Sans" charset="0"/>
                        <a:cs typeface="Liberation Sans" charset="0"/>
                      </a:endParaRPr>
                    </a:p>
                  </a:txBody>
                  <a:tcPr marL="36576" marR="36576" marT="36576" marB="36576" anchor="mid">
                    <a:lnL w="8890" cap="flat" cmpd="sng" algn="ctr">
                      <a:solidFill>
                        <a:srgbClr val="A9BDD0"/>
                      </a:solidFill>
                      <a:prstDash val="solid"/>
                      <a:round/>
                      <a:headEnd type="none" w="med" len="med"/>
                      <a:tailEnd type="none" w="med" len="med"/>
                    </a:lnL>
                    <a:lnR w="8890" cap="flat" cmpd="sng" algn="ctr">
                      <a:solidFill>
                        <a:srgbClr val="A9BDD0"/>
                      </a:solidFill>
                      <a:prstDash val="solid"/>
                      <a:round/>
                      <a:headEnd type="none" w="med" len="med"/>
                      <a:tailEnd type="none" w="med" len="med"/>
                    </a:lnR>
                    <a:lnT w="8890" cap="flat" cmpd="sng" algn="ctr">
                      <a:solidFill>
                        <a:srgbClr val="A9BDD0"/>
                      </a:solidFill>
                      <a:prstDash val="solid"/>
                      <a:round/>
                      <a:headEnd type="none" w="med" len="med"/>
                      <a:tailEnd type="none" w="med" len="med"/>
                    </a:lnT>
                    <a:lnB w="8890" cap="flat" cmpd="sng" algn="ctr">
                      <a:solidFill>
                        <a:srgbClr val="A9BDD0"/>
                      </a:solidFill>
                      <a:prstDash val="solid"/>
                      <a:round/>
                      <a:headEnd type="none" w="med" len="med"/>
                      <a:tailEnd type="none" w="med" len="med"/>
                    </a:lnB>
                    <a:solidFill>
                      <a:srgbClr val="FFFFFF"/>
                    </a:solidFill>
                  </a:tcPr>
                </a:tc>
                <a:tc>
                  <a:txBody>
                    <a:bodyPr/>
                    <a:lstStyle/>
                    <a:p>
                      <a:pPr algn="ctr" indent="0" marL="0">
                        <a:buNone/>
                      </a:pPr>
                      <a:r>
                        <a:rPr lang="en-US" sz="740" dirty="0">
                          <a:solidFill>
                            <a:srgbClr val="1E2933"/>
                          </a:solidFill>
                          <a:latin typeface="Liberation Sans" pitchFamily="34" charset="0"/>
                          <a:ea typeface="Liberation Sans" pitchFamily="34" charset="-122"/>
                          <a:cs typeface="Liberation Sans" pitchFamily="34" charset="-120"/>
                        </a:rPr>
                        <a:t>0.520</a:t>
                      </a:r>
                      <a:endParaRPr lang="en-US" sz="740" dirty="0">
                        <a:latin typeface="Liberation Sans" charset="0"/>
                        <a:ea typeface="Liberation Sans" charset="0"/>
                        <a:cs typeface="Liberation Sans" charset="0"/>
                      </a:endParaRPr>
                    </a:p>
                  </a:txBody>
                  <a:tcPr marL="36576" marR="36576" marT="36576" marB="36576" anchor="mid">
                    <a:lnL w="8890" cap="flat" cmpd="sng" algn="ctr">
                      <a:solidFill>
                        <a:srgbClr val="A9BDD0"/>
                      </a:solidFill>
                      <a:prstDash val="solid"/>
                      <a:round/>
                      <a:headEnd type="none" w="med" len="med"/>
                      <a:tailEnd type="none" w="med" len="med"/>
                    </a:lnL>
                    <a:lnR w="8890" cap="flat" cmpd="sng" algn="ctr">
                      <a:solidFill>
                        <a:srgbClr val="A9BDD0"/>
                      </a:solidFill>
                      <a:prstDash val="solid"/>
                      <a:round/>
                      <a:headEnd type="none" w="med" len="med"/>
                      <a:tailEnd type="none" w="med" len="med"/>
                    </a:lnR>
                    <a:lnT w="8890" cap="flat" cmpd="sng" algn="ctr">
                      <a:solidFill>
                        <a:srgbClr val="A9BDD0"/>
                      </a:solidFill>
                      <a:prstDash val="solid"/>
                      <a:round/>
                      <a:headEnd type="none" w="med" len="med"/>
                      <a:tailEnd type="none" w="med" len="med"/>
                    </a:lnT>
                    <a:lnB w="8890" cap="flat" cmpd="sng" algn="ctr">
                      <a:solidFill>
                        <a:srgbClr val="A9BDD0"/>
                      </a:solidFill>
                      <a:prstDash val="solid"/>
                      <a:round/>
                      <a:headEnd type="none" w="med" len="med"/>
                      <a:tailEnd type="none" w="med" len="med"/>
                    </a:lnB>
                    <a:solidFill>
                      <a:srgbClr val="FFFFFF"/>
                    </a:solidFill>
                  </a:tcPr>
                </a:tc>
                <a:tc>
                  <a:txBody>
                    <a:bodyPr/>
                    <a:lstStyle/>
                    <a:p>
                      <a:pPr algn="ctr" indent="0" marL="0">
                        <a:buNone/>
                      </a:pPr>
                      <a:r>
                        <a:rPr lang="en-US" sz="740" dirty="0">
                          <a:solidFill>
                            <a:srgbClr val="1E2933"/>
                          </a:solidFill>
                          <a:latin typeface="Liberation Sans" pitchFamily="34" charset="0"/>
                          <a:ea typeface="Liberation Sans" pitchFamily="34" charset="-122"/>
                          <a:cs typeface="Liberation Sans" pitchFamily="34" charset="-120"/>
                        </a:rPr>
                        <a:t>0.210</a:t>
                      </a:r>
                      <a:endParaRPr lang="en-US" sz="740" dirty="0">
                        <a:latin typeface="Liberation Sans" charset="0"/>
                        <a:ea typeface="Liberation Sans" charset="0"/>
                        <a:cs typeface="Liberation Sans" charset="0"/>
                      </a:endParaRPr>
                    </a:p>
                  </a:txBody>
                  <a:tcPr marL="36576" marR="36576" marT="36576" marB="36576" anchor="mid">
                    <a:lnL w="8890" cap="flat" cmpd="sng" algn="ctr">
                      <a:solidFill>
                        <a:srgbClr val="A9BDD0"/>
                      </a:solidFill>
                      <a:prstDash val="solid"/>
                      <a:round/>
                      <a:headEnd type="none" w="med" len="med"/>
                      <a:tailEnd type="none" w="med" len="med"/>
                    </a:lnL>
                    <a:lnR w="8890" cap="flat" cmpd="sng" algn="ctr">
                      <a:solidFill>
                        <a:srgbClr val="A9BDD0"/>
                      </a:solidFill>
                      <a:prstDash val="solid"/>
                      <a:round/>
                      <a:headEnd type="none" w="med" len="med"/>
                      <a:tailEnd type="none" w="med" len="med"/>
                    </a:lnR>
                    <a:lnT w="8890" cap="flat" cmpd="sng" algn="ctr">
                      <a:solidFill>
                        <a:srgbClr val="A9BDD0"/>
                      </a:solidFill>
                      <a:prstDash val="solid"/>
                      <a:round/>
                      <a:headEnd type="none" w="med" len="med"/>
                      <a:tailEnd type="none" w="med" len="med"/>
                    </a:lnT>
                    <a:lnB w="8890" cap="flat" cmpd="sng" algn="ctr">
                      <a:solidFill>
                        <a:srgbClr val="A9BDD0"/>
                      </a:solidFill>
                      <a:prstDash val="solid"/>
                      <a:round/>
                      <a:headEnd type="none" w="med" len="med"/>
                      <a:tailEnd type="none" w="med" len="med"/>
                    </a:lnB>
                    <a:solidFill>
                      <a:srgbClr val="FFFFFF"/>
                    </a:solidFill>
                  </a:tcPr>
                </a:tc>
              </a:tr>
              <a:tr h="292608">
                <a:tc>
                  <a:txBody>
                    <a:bodyPr/>
                    <a:lstStyle/>
                    <a:p>
                      <a:pPr algn="ctr" indent="0" marL="0">
                        <a:buNone/>
                      </a:pPr>
                      <a:r>
                        <a:rPr lang="en-US" sz="740" dirty="0">
                          <a:solidFill>
                            <a:srgbClr val="1E2933"/>
                          </a:solidFill>
                          <a:latin typeface="Liberation Sans" pitchFamily="34" charset="0"/>
                          <a:ea typeface="Liberation Sans" pitchFamily="34" charset="-122"/>
                          <a:cs typeface="Liberation Sans" pitchFamily="34" charset="-120"/>
                        </a:rPr>
                        <a:t>Graph-Based</a:t>
                      </a:r>
                      <a:endParaRPr lang="en-US" sz="740" dirty="0">
                        <a:latin typeface="Liberation Sans" charset="0"/>
                        <a:ea typeface="Liberation Sans" charset="0"/>
                        <a:cs typeface="Liberation Sans" charset="0"/>
                      </a:endParaRPr>
                    </a:p>
                  </a:txBody>
                  <a:tcPr marL="36576" marR="36576" marT="36576" marB="36576" anchor="mid">
                    <a:lnL w="8890" cap="flat" cmpd="sng" algn="ctr">
                      <a:solidFill>
                        <a:srgbClr val="A9BDD0"/>
                      </a:solidFill>
                      <a:prstDash val="solid"/>
                      <a:round/>
                      <a:headEnd type="none" w="med" len="med"/>
                      <a:tailEnd type="none" w="med" len="med"/>
                    </a:lnL>
                    <a:lnR w="8890" cap="flat" cmpd="sng" algn="ctr">
                      <a:solidFill>
                        <a:srgbClr val="A9BDD0"/>
                      </a:solidFill>
                      <a:prstDash val="solid"/>
                      <a:round/>
                      <a:headEnd type="none" w="med" len="med"/>
                      <a:tailEnd type="none" w="med" len="med"/>
                    </a:lnR>
                    <a:lnT w="8890" cap="flat" cmpd="sng" algn="ctr">
                      <a:solidFill>
                        <a:srgbClr val="A9BDD0"/>
                      </a:solidFill>
                      <a:prstDash val="solid"/>
                      <a:round/>
                      <a:headEnd type="none" w="med" len="med"/>
                      <a:tailEnd type="none" w="med" len="med"/>
                    </a:lnT>
                    <a:lnB w="8890" cap="flat" cmpd="sng" algn="ctr">
                      <a:solidFill>
                        <a:srgbClr val="A9BDD0"/>
                      </a:solidFill>
                      <a:prstDash val="solid"/>
                      <a:round/>
                      <a:headEnd type="none" w="med" len="med"/>
                      <a:tailEnd type="none" w="med" len="med"/>
                    </a:lnB>
                    <a:solidFill>
                      <a:srgbClr val="FFFFFF"/>
                    </a:solidFill>
                  </a:tcPr>
                </a:tc>
                <a:tc>
                  <a:txBody>
                    <a:bodyPr/>
                    <a:lstStyle/>
                    <a:p>
                      <a:pPr algn="ctr" indent="0" marL="0">
                        <a:buNone/>
                      </a:pPr>
                      <a:r>
                        <a:rPr lang="en-US" sz="740" dirty="0">
                          <a:solidFill>
                            <a:srgbClr val="1E2933"/>
                          </a:solidFill>
                          <a:latin typeface="Liberation Sans" pitchFamily="34" charset="0"/>
                          <a:ea typeface="Liberation Sans" pitchFamily="34" charset="-122"/>
                          <a:cs typeface="Liberation Sans" pitchFamily="34" charset="-120"/>
                        </a:rPr>
                        <a:t>0.823</a:t>
                      </a:r>
                      <a:endParaRPr lang="en-US" sz="740" dirty="0">
                        <a:latin typeface="Liberation Sans" charset="0"/>
                        <a:ea typeface="Liberation Sans" charset="0"/>
                        <a:cs typeface="Liberation Sans" charset="0"/>
                      </a:endParaRPr>
                    </a:p>
                  </a:txBody>
                  <a:tcPr marL="36576" marR="36576" marT="36576" marB="36576" anchor="mid">
                    <a:lnL w="8890" cap="flat" cmpd="sng" algn="ctr">
                      <a:solidFill>
                        <a:srgbClr val="A9BDD0"/>
                      </a:solidFill>
                      <a:prstDash val="solid"/>
                      <a:round/>
                      <a:headEnd type="none" w="med" len="med"/>
                      <a:tailEnd type="none" w="med" len="med"/>
                    </a:lnL>
                    <a:lnR w="8890" cap="flat" cmpd="sng" algn="ctr">
                      <a:solidFill>
                        <a:srgbClr val="A9BDD0"/>
                      </a:solidFill>
                      <a:prstDash val="solid"/>
                      <a:round/>
                      <a:headEnd type="none" w="med" len="med"/>
                      <a:tailEnd type="none" w="med" len="med"/>
                    </a:lnR>
                    <a:lnT w="8890" cap="flat" cmpd="sng" algn="ctr">
                      <a:solidFill>
                        <a:srgbClr val="A9BDD0"/>
                      </a:solidFill>
                      <a:prstDash val="solid"/>
                      <a:round/>
                      <a:headEnd type="none" w="med" len="med"/>
                      <a:tailEnd type="none" w="med" len="med"/>
                    </a:lnT>
                    <a:lnB w="8890" cap="flat" cmpd="sng" algn="ctr">
                      <a:solidFill>
                        <a:srgbClr val="A9BDD0"/>
                      </a:solidFill>
                      <a:prstDash val="solid"/>
                      <a:round/>
                      <a:headEnd type="none" w="med" len="med"/>
                      <a:tailEnd type="none" w="med" len="med"/>
                    </a:lnB>
                    <a:solidFill>
                      <a:srgbClr val="FFFFFF"/>
                    </a:solidFill>
                  </a:tcPr>
                </a:tc>
                <a:tc>
                  <a:txBody>
                    <a:bodyPr/>
                    <a:lstStyle/>
                    <a:p>
                      <a:pPr algn="ctr" indent="0" marL="0">
                        <a:buNone/>
                      </a:pPr>
                      <a:r>
                        <a:rPr lang="en-US" sz="740" dirty="0">
                          <a:solidFill>
                            <a:srgbClr val="1E2933"/>
                          </a:solidFill>
                          <a:latin typeface="Liberation Sans" pitchFamily="34" charset="0"/>
                          <a:ea typeface="Liberation Sans" pitchFamily="34" charset="-122"/>
                          <a:cs typeface="Liberation Sans" pitchFamily="34" charset="-120"/>
                        </a:rPr>
                        <a:t>0.623</a:t>
                      </a:r>
                      <a:endParaRPr lang="en-US" sz="740" dirty="0">
                        <a:latin typeface="Liberation Sans" charset="0"/>
                        <a:ea typeface="Liberation Sans" charset="0"/>
                        <a:cs typeface="Liberation Sans" charset="0"/>
                      </a:endParaRPr>
                    </a:p>
                  </a:txBody>
                  <a:tcPr marL="36576" marR="36576" marT="36576" marB="36576" anchor="mid">
                    <a:lnL w="8890" cap="flat" cmpd="sng" algn="ctr">
                      <a:solidFill>
                        <a:srgbClr val="A9BDD0"/>
                      </a:solidFill>
                      <a:prstDash val="solid"/>
                      <a:round/>
                      <a:headEnd type="none" w="med" len="med"/>
                      <a:tailEnd type="none" w="med" len="med"/>
                    </a:lnL>
                    <a:lnR w="8890" cap="flat" cmpd="sng" algn="ctr">
                      <a:solidFill>
                        <a:srgbClr val="A9BDD0"/>
                      </a:solidFill>
                      <a:prstDash val="solid"/>
                      <a:round/>
                      <a:headEnd type="none" w="med" len="med"/>
                      <a:tailEnd type="none" w="med" len="med"/>
                    </a:lnR>
                    <a:lnT w="8890" cap="flat" cmpd="sng" algn="ctr">
                      <a:solidFill>
                        <a:srgbClr val="A9BDD0"/>
                      </a:solidFill>
                      <a:prstDash val="solid"/>
                      <a:round/>
                      <a:headEnd type="none" w="med" len="med"/>
                      <a:tailEnd type="none" w="med" len="med"/>
                    </a:lnT>
                    <a:lnB w="8890" cap="flat" cmpd="sng" algn="ctr">
                      <a:solidFill>
                        <a:srgbClr val="A9BDD0"/>
                      </a:solidFill>
                      <a:prstDash val="solid"/>
                      <a:round/>
                      <a:headEnd type="none" w="med" len="med"/>
                      <a:tailEnd type="none" w="med" len="med"/>
                    </a:lnB>
                    <a:solidFill>
                      <a:srgbClr val="FFFFFF"/>
                    </a:solidFill>
                  </a:tcPr>
                </a:tc>
                <a:tc>
                  <a:txBody>
                    <a:bodyPr/>
                    <a:lstStyle/>
                    <a:p>
                      <a:pPr algn="ctr" indent="0" marL="0">
                        <a:buNone/>
                      </a:pPr>
                      <a:r>
                        <a:rPr lang="en-US" sz="740" dirty="0">
                          <a:solidFill>
                            <a:srgbClr val="1E2933"/>
                          </a:solidFill>
                          <a:latin typeface="Liberation Sans" pitchFamily="34" charset="0"/>
                          <a:ea typeface="Liberation Sans" pitchFamily="34" charset="-122"/>
                          <a:cs typeface="Liberation Sans" pitchFamily="34" charset="-120"/>
                        </a:rPr>
                        <a:t>0.119</a:t>
                      </a:r>
                      <a:endParaRPr lang="en-US" sz="740" dirty="0">
                        <a:latin typeface="Liberation Sans" charset="0"/>
                        <a:ea typeface="Liberation Sans" charset="0"/>
                        <a:cs typeface="Liberation Sans" charset="0"/>
                      </a:endParaRPr>
                    </a:p>
                  </a:txBody>
                  <a:tcPr marL="36576" marR="36576" marT="36576" marB="36576" anchor="mid">
                    <a:lnL w="8890" cap="flat" cmpd="sng" algn="ctr">
                      <a:solidFill>
                        <a:srgbClr val="A9BDD0"/>
                      </a:solidFill>
                      <a:prstDash val="solid"/>
                      <a:round/>
                      <a:headEnd type="none" w="med" len="med"/>
                      <a:tailEnd type="none" w="med" len="med"/>
                    </a:lnL>
                    <a:lnR w="8890" cap="flat" cmpd="sng" algn="ctr">
                      <a:solidFill>
                        <a:srgbClr val="A9BDD0"/>
                      </a:solidFill>
                      <a:prstDash val="solid"/>
                      <a:round/>
                      <a:headEnd type="none" w="med" len="med"/>
                      <a:tailEnd type="none" w="med" len="med"/>
                    </a:lnR>
                    <a:lnT w="8890" cap="flat" cmpd="sng" algn="ctr">
                      <a:solidFill>
                        <a:srgbClr val="A9BDD0"/>
                      </a:solidFill>
                      <a:prstDash val="solid"/>
                      <a:round/>
                      <a:headEnd type="none" w="med" len="med"/>
                      <a:tailEnd type="none" w="med" len="med"/>
                    </a:lnT>
                    <a:lnB w="8890" cap="flat" cmpd="sng" algn="ctr">
                      <a:solidFill>
                        <a:srgbClr val="A9BDD0"/>
                      </a:solidFill>
                      <a:prstDash val="solid"/>
                      <a:round/>
                      <a:headEnd type="none" w="med" len="med"/>
                      <a:tailEnd type="none" w="med" len="med"/>
                    </a:lnB>
                    <a:solidFill>
                      <a:srgbClr val="FFFFFF"/>
                    </a:solidFill>
                  </a:tcPr>
                </a:tc>
              </a:tr>
            </a:tbl>
          </a:graphicData>
        </a:graphic>
      </p:graphicFrame>
      <p:sp>
        <p:nvSpPr>
          <p:cNvPr id="149" name="Shape 128"/>
          <p:cNvSpPr/>
          <p:nvPr/>
        </p:nvSpPr>
        <p:spPr>
          <a:xfrm>
            <a:off x="5513832" y="16660368"/>
            <a:ext cx="3749040" cy="292608"/>
          </a:xfrm>
          <a:prstGeom prst="rect">
            <a:avLst/>
          </a:prstGeom>
          <a:solidFill>
            <a:srgbClr val="F4F7FA">
              <a:alpha val="82000"/>
            </a:srgbClr>
          </a:solidFill>
          <a:ln w="12700">
            <a:solidFill>
              <a:srgbClr val="A9BDD0">
                <a:alpha val="0"/>
              </a:srgbClr>
            </a:solidFill>
            <a:prstDash val="solid"/>
          </a:ln>
        </p:spPr>
      </p:sp>
      <p:sp>
        <p:nvSpPr>
          <p:cNvPr id="150" name="Shape 129"/>
          <p:cNvSpPr/>
          <p:nvPr/>
        </p:nvSpPr>
        <p:spPr>
          <a:xfrm>
            <a:off x="5513832" y="16952976"/>
            <a:ext cx="3749040" cy="292608"/>
          </a:xfrm>
          <a:prstGeom prst="rect">
            <a:avLst/>
          </a:prstGeom>
          <a:solidFill>
            <a:srgbClr val="DCECF8">
              <a:alpha val="95000"/>
            </a:srgbClr>
          </a:solidFill>
          <a:ln w="12700">
            <a:solidFill>
              <a:srgbClr val="A9BDD0">
                <a:alpha val="0"/>
              </a:srgbClr>
            </a:solidFill>
            <a:prstDash val="solid"/>
          </a:ln>
        </p:spPr>
      </p:sp>
      <p:sp>
        <p:nvSpPr>
          <p:cNvPr id="151" name="Text 130"/>
          <p:cNvSpPr/>
          <p:nvPr/>
        </p:nvSpPr>
        <p:spPr>
          <a:xfrm>
            <a:off x="5532120" y="16715232"/>
            <a:ext cx="1371600" cy="146304"/>
          </a:xfrm>
          <a:prstGeom prst="rect">
            <a:avLst/>
          </a:prstGeom>
          <a:noFill/>
          <a:ln/>
        </p:spPr>
        <p:txBody>
          <a:bodyPr wrap="square" lIns="0" tIns="0" rIns="0" bIns="0" rtlCol="0" anchor="ctr"/>
          <a:lstStyle/>
          <a:p>
            <a:pPr algn="ctr" indent="0" marL="0">
              <a:buNone/>
            </a:pPr>
            <a:r>
              <a:rPr lang="en-US" sz="725" dirty="0">
                <a:solidFill>
                  <a:srgbClr val="000000"/>
                </a:solidFill>
              </a:rPr>
              <a:t>Rule-Based</a:t>
            </a:r>
            <a:endParaRPr lang="en-US" sz="725" dirty="0"/>
          </a:p>
        </p:txBody>
      </p:sp>
      <p:sp>
        <p:nvSpPr>
          <p:cNvPr id="152" name="Text 131"/>
          <p:cNvSpPr/>
          <p:nvPr/>
        </p:nvSpPr>
        <p:spPr>
          <a:xfrm>
            <a:off x="6949440" y="16715232"/>
            <a:ext cx="749808" cy="146304"/>
          </a:xfrm>
          <a:prstGeom prst="rect">
            <a:avLst/>
          </a:prstGeom>
          <a:noFill/>
          <a:ln/>
        </p:spPr>
        <p:txBody>
          <a:bodyPr wrap="square" lIns="0" tIns="0" rIns="0" bIns="0" rtlCol="0" anchor="ctr"/>
          <a:lstStyle/>
          <a:p>
            <a:pPr algn="ctr" indent="0" marL="0">
              <a:buNone/>
            </a:pPr>
            <a:r>
              <a:rPr lang="en-US" sz="725" dirty="0">
                <a:solidFill>
                  <a:srgbClr val="000000"/>
                </a:solidFill>
              </a:rPr>
              <a:t>0.687</a:t>
            </a:r>
            <a:endParaRPr lang="en-US" sz="725" dirty="0"/>
          </a:p>
        </p:txBody>
      </p:sp>
      <p:sp>
        <p:nvSpPr>
          <p:cNvPr id="153" name="Text 132"/>
          <p:cNvSpPr/>
          <p:nvPr/>
        </p:nvSpPr>
        <p:spPr>
          <a:xfrm>
            <a:off x="7726680" y="16715232"/>
            <a:ext cx="749808" cy="146304"/>
          </a:xfrm>
          <a:prstGeom prst="rect">
            <a:avLst/>
          </a:prstGeom>
          <a:noFill/>
          <a:ln/>
        </p:spPr>
        <p:txBody>
          <a:bodyPr wrap="square" lIns="0" tIns="0" rIns="0" bIns="0" rtlCol="0" anchor="ctr"/>
          <a:lstStyle/>
          <a:p>
            <a:pPr algn="ctr" indent="0" marL="0">
              <a:buNone/>
            </a:pPr>
            <a:r>
              <a:rPr lang="en-US" sz="725" dirty="0">
                <a:solidFill>
                  <a:srgbClr val="000000"/>
                </a:solidFill>
              </a:rPr>
              <a:t>0.520</a:t>
            </a:r>
            <a:endParaRPr lang="en-US" sz="725" dirty="0"/>
          </a:p>
        </p:txBody>
      </p:sp>
      <p:sp>
        <p:nvSpPr>
          <p:cNvPr id="154" name="Text 133"/>
          <p:cNvSpPr/>
          <p:nvPr/>
        </p:nvSpPr>
        <p:spPr>
          <a:xfrm>
            <a:off x="8503920" y="16715232"/>
            <a:ext cx="731520" cy="146304"/>
          </a:xfrm>
          <a:prstGeom prst="rect">
            <a:avLst/>
          </a:prstGeom>
          <a:noFill/>
          <a:ln/>
        </p:spPr>
        <p:txBody>
          <a:bodyPr wrap="square" lIns="0" tIns="0" rIns="0" bIns="0" rtlCol="0" anchor="ctr"/>
          <a:lstStyle/>
          <a:p>
            <a:pPr algn="ctr" indent="0" marL="0">
              <a:buNone/>
            </a:pPr>
            <a:r>
              <a:rPr lang="en-US" sz="725" dirty="0">
                <a:solidFill>
                  <a:srgbClr val="000000"/>
                </a:solidFill>
              </a:rPr>
              <a:t>0.210</a:t>
            </a:r>
            <a:endParaRPr lang="en-US" sz="725" dirty="0"/>
          </a:p>
        </p:txBody>
      </p:sp>
      <p:sp>
        <p:nvSpPr>
          <p:cNvPr id="155" name="Text 134"/>
          <p:cNvSpPr/>
          <p:nvPr/>
        </p:nvSpPr>
        <p:spPr>
          <a:xfrm>
            <a:off x="5532120" y="17007840"/>
            <a:ext cx="1371600" cy="146304"/>
          </a:xfrm>
          <a:prstGeom prst="rect">
            <a:avLst/>
          </a:prstGeom>
          <a:noFill/>
          <a:ln/>
        </p:spPr>
        <p:txBody>
          <a:bodyPr wrap="square" lIns="0" tIns="0" rIns="0" bIns="0" rtlCol="0" anchor="ctr"/>
          <a:lstStyle/>
          <a:p>
            <a:pPr algn="ctr" indent="0" marL="0">
              <a:buNone/>
            </a:pPr>
            <a:r>
              <a:rPr lang="en-US" sz="725" b="1" dirty="0">
                <a:solidFill>
                  <a:srgbClr val="17365D"/>
                </a:solidFill>
              </a:rPr>
              <a:t>Graph-Based</a:t>
            </a:r>
            <a:endParaRPr lang="en-US" sz="725" dirty="0"/>
          </a:p>
        </p:txBody>
      </p:sp>
      <p:sp>
        <p:nvSpPr>
          <p:cNvPr id="156" name="Text 135"/>
          <p:cNvSpPr/>
          <p:nvPr/>
        </p:nvSpPr>
        <p:spPr>
          <a:xfrm>
            <a:off x="6949440" y="17007840"/>
            <a:ext cx="749808" cy="146304"/>
          </a:xfrm>
          <a:prstGeom prst="rect">
            <a:avLst/>
          </a:prstGeom>
          <a:noFill/>
          <a:ln/>
        </p:spPr>
        <p:txBody>
          <a:bodyPr wrap="square" lIns="0" tIns="0" rIns="0" bIns="0" rtlCol="0" anchor="ctr"/>
          <a:lstStyle/>
          <a:p>
            <a:pPr algn="ctr" indent="0" marL="0">
              <a:buNone/>
            </a:pPr>
            <a:r>
              <a:rPr lang="en-US" sz="725" b="1" dirty="0">
                <a:solidFill>
                  <a:srgbClr val="17365D"/>
                </a:solidFill>
              </a:rPr>
              <a:t>0.823</a:t>
            </a:r>
            <a:endParaRPr lang="en-US" sz="725" dirty="0"/>
          </a:p>
        </p:txBody>
      </p:sp>
      <p:sp>
        <p:nvSpPr>
          <p:cNvPr id="157" name="Text 136"/>
          <p:cNvSpPr/>
          <p:nvPr/>
        </p:nvSpPr>
        <p:spPr>
          <a:xfrm>
            <a:off x="7726680" y="17007840"/>
            <a:ext cx="749808" cy="146304"/>
          </a:xfrm>
          <a:prstGeom prst="rect">
            <a:avLst/>
          </a:prstGeom>
          <a:noFill/>
          <a:ln/>
        </p:spPr>
        <p:txBody>
          <a:bodyPr wrap="square" lIns="0" tIns="0" rIns="0" bIns="0" rtlCol="0" anchor="ctr"/>
          <a:lstStyle/>
          <a:p>
            <a:pPr algn="ctr" indent="0" marL="0">
              <a:buNone/>
            </a:pPr>
            <a:r>
              <a:rPr lang="en-US" sz="725" b="1" dirty="0">
                <a:solidFill>
                  <a:srgbClr val="17365D"/>
                </a:solidFill>
              </a:rPr>
              <a:t>0.623</a:t>
            </a:r>
            <a:endParaRPr lang="en-US" sz="725" dirty="0"/>
          </a:p>
        </p:txBody>
      </p:sp>
      <p:sp>
        <p:nvSpPr>
          <p:cNvPr id="158" name="Text 137"/>
          <p:cNvSpPr/>
          <p:nvPr/>
        </p:nvSpPr>
        <p:spPr>
          <a:xfrm>
            <a:off x="8503920" y="17007840"/>
            <a:ext cx="731520" cy="146304"/>
          </a:xfrm>
          <a:prstGeom prst="rect">
            <a:avLst/>
          </a:prstGeom>
          <a:noFill/>
          <a:ln/>
        </p:spPr>
        <p:txBody>
          <a:bodyPr wrap="square" lIns="0" tIns="0" rIns="0" bIns="0" rtlCol="0" anchor="ctr"/>
          <a:lstStyle/>
          <a:p>
            <a:pPr algn="ctr" indent="0" marL="0">
              <a:buNone/>
            </a:pPr>
            <a:r>
              <a:rPr lang="en-US" sz="725" b="1" dirty="0">
                <a:solidFill>
                  <a:srgbClr val="17365D"/>
                </a:solidFill>
              </a:rPr>
              <a:t>0.119</a:t>
            </a:r>
            <a:endParaRPr lang="en-US" sz="725" dirty="0"/>
          </a:p>
        </p:txBody>
      </p:sp>
      <p:sp>
        <p:nvSpPr>
          <p:cNvPr id="159" name="Shape 138"/>
          <p:cNvSpPr/>
          <p:nvPr/>
        </p:nvSpPr>
        <p:spPr>
          <a:xfrm>
            <a:off x="5495544" y="16312896"/>
            <a:ext cx="3785616" cy="960120"/>
          </a:xfrm>
          <a:prstGeom prst="rect">
            <a:avLst/>
          </a:prstGeom>
          <a:solidFill>
            <a:srgbClr val="FFFFFF"/>
          </a:solidFill>
          <a:ln w="10160">
            <a:solidFill>
              <a:srgbClr val="A9BDD0"/>
            </a:solidFill>
            <a:prstDash val="solid"/>
          </a:ln>
        </p:spPr>
      </p:sp>
      <p:sp>
        <p:nvSpPr>
          <p:cNvPr id="160" name="Shape 139"/>
          <p:cNvSpPr/>
          <p:nvPr/>
        </p:nvSpPr>
        <p:spPr>
          <a:xfrm>
            <a:off x="5495544" y="16312896"/>
            <a:ext cx="3785616" cy="320040"/>
          </a:xfrm>
          <a:prstGeom prst="rect">
            <a:avLst/>
          </a:prstGeom>
          <a:solidFill>
            <a:srgbClr val="1D3A67"/>
          </a:solidFill>
          <a:ln w="6350">
            <a:solidFill>
              <a:srgbClr val="1D3A67"/>
            </a:solidFill>
            <a:prstDash val="solid"/>
          </a:ln>
        </p:spPr>
      </p:sp>
      <p:sp>
        <p:nvSpPr>
          <p:cNvPr id="161" name="Shape 140"/>
          <p:cNvSpPr/>
          <p:nvPr/>
        </p:nvSpPr>
        <p:spPr>
          <a:xfrm>
            <a:off x="5495544" y="16952976"/>
            <a:ext cx="3785616" cy="320040"/>
          </a:xfrm>
          <a:prstGeom prst="rect">
            <a:avLst/>
          </a:prstGeom>
          <a:solidFill>
            <a:srgbClr val="DCECF8"/>
          </a:solidFill>
          <a:ln w="6350">
            <a:solidFill>
              <a:srgbClr val="A9BDD0"/>
            </a:solidFill>
            <a:prstDash val="solid"/>
          </a:ln>
        </p:spPr>
      </p:sp>
      <p:sp>
        <p:nvSpPr>
          <p:cNvPr id="162" name="Shape 141"/>
          <p:cNvSpPr/>
          <p:nvPr/>
        </p:nvSpPr>
        <p:spPr>
          <a:xfrm>
            <a:off x="6922008" y="16312896"/>
            <a:ext cx="0" cy="960120"/>
          </a:xfrm>
          <a:prstGeom prst="line">
            <a:avLst/>
          </a:prstGeom>
          <a:noFill/>
          <a:ln w="7620">
            <a:solidFill>
              <a:srgbClr val="A9BDD0"/>
            </a:solidFill>
            <a:prstDash val="solid"/>
          </a:ln>
        </p:spPr>
      </p:sp>
      <p:sp>
        <p:nvSpPr>
          <p:cNvPr id="163" name="Shape 142"/>
          <p:cNvSpPr/>
          <p:nvPr/>
        </p:nvSpPr>
        <p:spPr>
          <a:xfrm>
            <a:off x="7708392" y="16312896"/>
            <a:ext cx="0" cy="960120"/>
          </a:xfrm>
          <a:prstGeom prst="line">
            <a:avLst/>
          </a:prstGeom>
          <a:noFill/>
          <a:ln w="7620">
            <a:solidFill>
              <a:srgbClr val="A9BDD0"/>
            </a:solidFill>
            <a:prstDash val="solid"/>
          </a:ln>
        </p:spPr>
      </p:sp>
      <p:sp>
        <p:nvSpPr>
          <p:cNvPr id="164" name="Shape 143"/>
          <p:cNvSpPr/>
          <p:nvPr/>
        </p:nvSpPr>
        <p:spPr>
          <a:xfrm>
            <a:off x="8494776" y="16312896"/>
            <a:ext cx="0" cy="960120"/>
          </a:xfrm>
          <a:prstGeom prst="line">
            <a:avLst/>
          </a:prstGeom>
          <a:noFill/>
          <a:ln w="7620">
            <a:solidFill>
              <a:srgbClr val="A9BDD0"/>
            </a:solidFill>
            <a:prstDash val="solid"/>
          </a:ln>
        </p:spPr>
      </p:sp>
      <p:sp>
        <p:nvSpPr>
          <p:cNvPr id="165" name="Shape 144"/>
          <p:cNvSpPr/>
          <p:nvPr/>
        </p:nvSpPr>
        <p:spPr>
          <a:xfrm>
            <a:off x="5495544" y="16632936"/>
            <a:ext cx="3785616" cy="0"/>
          </a:xfrm>
          <a:prstGeom prst="line">
            <a:avLst/>
          </a:prstGeom>
          <a:noFill/>
          <a:ln w="7620">
            <a:solidFill>
              <a:srgbClr val="A9BDD0"/>
            </a:solidFill>
            <a:prstDash val="solid"/>
          </a:ln>
        </p:spPr>
      </p:sp>
      <p:sp>
        <p:nvSpPr>
          <p:cNvPr id="166" name="Shape 145"/>
          <p:cNvSpPr/>
          <p:nvPr/>
        </p:nvSpPr>
        <p:spPr>
          <a:xfrm>
            <a:off x="5495544" y="16952976"/>
            <a:ext cx="3785616" cy="0"/>
          </a:xfrm>
          <a:prstGeom prst="line">
            <a:avLst/>
          </a:prstGeom>
          <a:noFill/>
          <a:ln w="7620">
            <a:solidFill>
              <a:srgbClr val="A9BDD0"/>
            </a:solidFill>
            <a:prstDash val="solid"/>
          </a:ln>
        </p:spPr>
      </p:sp>
      <p:sp>
        <p:nvSpPr>
          <p:cNvPr id="167" name="Text 146"/>
          <p:cNvSpPr/>
          <p:nvPr/>
        </p:nvSpPr>
        <p:spPr>
          <a:xfrm>
            <a:off x="5541264" y="16404336"/>
            <a:ext cx="1335024" cy="128016"/>
          </a:xfrm>
          <a:prstGeom prst="rect">
            <a:avLst/>
          </a:prstGeom>
          <a:noFill/>
          <a:ln/>
        </p:spPr>
        <p:txBody>
          <a:bodyPr wrap="square" lIns="0" tIns="0" rIns="0" bIns="0" rtlCol="0" anchor="ctr"/>
          <a:lstStyle/>
          <a:p>
            <a:pPr algn="ctr" indent="0" marL="0">
              <a:buNone/>
            </a:pPr>
            <a:r>
              <a:rPr lang="en-US" sz="770" b="1" dirty="0">
                <a:solidFill>
                  <a:srgbClr val="FFFFFF"/>
                </a:solidFill>
              </a:rPr>
              <a:t>Method</a:t>
            </a:r>
            <a:endParaRPr lang="en-US" sz="770" dirty="0"/>
          </a:p>
        </p:txBody>
      </p:sp>
      <p:sp>
        <p:nvSpPr>
          <p:cNvPr id="168" name="Text 147"/>
          <p:cNvSpPr/>
          <p:nvPr/>
        </p:nvSpPr>
        <p:spPr>
          <a:xfrm>
            <a:off x="6949440" y="16404336"/>
            <a:ext cx="731520" cy="128016"/>
          </a:xfrm>
          <a:prstGeom prst="rect">
            <a:avLst/>
          </a:prstGeom>
          <a:noFill/>
          <a:ln/>
        </p:spPr>
        <p:txBody>
          <a:bodyPr wrap="square" lIns="0" tIns="0" rIns="0" bIns="0" rtlCol="0" anchor="ctr"/>
          <a:lstStyle/>
          <a:p>
            <a:pPr algn="ctr" indent="0" marL="0">
              <a:buNone/>
            </a:pPr>
            <a:r>
              <a:rPr lang="en-US" sz="770" b="1" dirty="0">
                <a:solidFill>
                  <a:srgbClr val="FFFFFF"/>
                </a:solidFill>
              </a:rPr>
              <a:t>Precision</a:t>
            </a:r>
            <a:endParaRPr lang="en-US" sz="770" dirty="0"/>
          </a:p>
        </p:txBody>
      </p:sp>
      <p:sp>
        <p:nvSpPr>
          <p:cNvPr id="169" name="Text 148"/>
          <p:cNvSpPr/>
          <p:nvPr/>
        </p:nvSpPr>
        <p:spPr>
          <a:xfrm>
            <a:off x="7735824" y="16404336"/>
            <a:ext cx="731520" cy="128016"/>
          </a:xfrm>
          <a:prstGeom prst="rect">
            <a:avLst/>
          </a:prstGeom>
          <a:noFill/>
          <a:ln/>
        </p:spPr>
        <p:txBody>
          <a:bodyPr wrap="square" lIns="0" tIns="0" rIns="0" bIns="0" rtlCol="0" anchor="ctr"/>
          <a:lstStyle/>
          <a:p>
            <a:pPr algn="ctr" indent="0" marL="0">
              <a:buNone/>
            </a:pPr>
            <a:r>
              <a:rPr lang="en-US" sz="770" b="1" dirty="0">
                <a:solidFill>
                  <a:srgbClr val="FFFFFF"/>
                </a:solidFill>
              </a:rPr>
              <a:t>Recall</a:t>
            </a:r>
            <a:endParaRPr lang="en-US" sz="770" dirty="0"/>
          </a:p>
        </p:txBody>
      </p:sp>
      <p:sp>
        <p:nvSpPr>
          <p:cNvPr id="170" name="Text 149"/>
          <p:cNvSpPr/>
          <p:nvPr/>
        </p:nvSpPr>
        <p:spPr>
          <a:xfrm>
            <a:off x="8522208" y="16404336"/>
            <a:ext cx="713232" cy="128016"/>
          </a:xfrm>
          <a:prstGeom prst="rect">
            <a:avLst/>
          </a:prstGeom>
          <a:noFill/>
          <a:ln/>
        </p:spPr>
        <p:txBody>
          <a:bodyPr wrap="square" lIns="0" tIns="0" rIns="0" bIns="0" rtlCol="0" anchor="ctr"/>
          <a:lstStyle/>
          <a:p>
            <a:pPr algn="ctr" indent="0" marL="0">
              <a:buNone/>
            </a:pPr>
            <a:r>
              <a:rPr lang="en-US" sz="770" b="1" dirty="0">
                <a:solidFill>
                  <a:srgbClr val="FFFFFF"/>
                </a:solidFill>
              </a:rPr>
              <a:t>FPR</a:t>
            </a:r>
            <a:endParaRPr lang="en-US" sz="770" dirty="0"/>
          </a:p>
        </p:txBody>
      </p:sp>
      <p:sp>
        <p:nvSpPr>
          <p:cNvPr id="171" name="Text 150"/>
          <p:cNvSpPr/>
          <p:nvPr/>
        </p:nvSpPr>
        <p:spPr>
          <a:xfrm>
            <a:off x="5541264" y="16733520"/>
            <a:ext cx="1335024" cy="128016"/>
          </a:xfrm>
          <a:prstGeom prst="rect">
            <a:avLst/>
          </a:prstGeom>
          <a:noFill/>
          <a:ln/>
        </p:spPr>
        <p:txBody>
          <a:bodyPr wrap="square" lIns="0" tIns="0" rIns="0" bIns="0" rtlCol="0" anchor="ctr"/>
          <a:lstStyle/>
          <a:p>
            <a:pPr algn="ctr" indent="0" marL="0">
              <a:buNone/>
            </a:pPr>
            <a:r>
              <a:rPr lang="en-US" sz="780" dirty="0">
                <a:solidFill>
                  <a:srgbClr val="1E2933"/>
                </a:solidFill>
              </a:rPr>
              <a:t>Rule-Based</a:t>
            </a:r>
            <a:endParaRPr lang="en-US" sz="780" dirty="0"/>
          </a:p>
        </p:txBody>
      </p:sp>
      <p:sp>
        <p:nvSpPr>
          <p:cNvPr id="172" name="Text 151"/>
          <p:cNvSpPr/>
          <p:nvPr/>
        </p:nvSpPr>
        <p:spPr>
          <a:xfrm>
            <a:off x="6949440" y="16733520"/>
            <a:ext cx="731520" cy="128016"/>
          </a:xfrm>
          <a:prstGeom prst="rect">
            <a:avLst/>
          </a:prstGeom>
          <a:noFill/>
          <a:ln/>
        </p:spPr>
        <p:txBody>
          <a:bodyPr wrap="square" lIns="0" tIns="0" rIns="0" bIns="0" rtlCol="0" anchor="ctr"/>
          <a:lstStyle/>
          <a:p>
            <a:pPr algn="ctr" indent="0" marL="0">
              <a:buNone/>
            </a:pPr>
            <a:r>
              <a:rPr lang="en-US" sz="780" dirty="0">
                <a:solidFill>
                  <a:srgbClr val="1E2933"/>
                </a:solidFill>
              </a:rPr>
              <a:t>0.687</a:t>
            </a:r>
            <a:endParaRPr lang="en-US" sz="780" dirty="0"/>
          </a:p>
        </p:txBody>
      </p:sp>
      <p:sp>
        <p:nvSpPr>
          <p:cNvPr id="173" name="Text 152"/>
          <p:cNvSpPr/>
          <p:nvPr/>
        </p:nvSpPr>
        <p:spPr>
          <a:xfrm>
            <a:off x="7735824" y="16733520"/>
            <a:ext cx="731520" cy="128016"/>
          </a:xfrm>
          <a:prstGeom prst="rect">
            <a:avLst/>
          </a:prstGeom>
          <a:noFill/>
          <a:ln/>
        </p:spPr>
        <p:txBody>
          <a:bodyPr wrap="square" lIns="0" tIns="0" rIns="0" bIns="0" rtlCol="0" anchor="ctr"/>
          <a:lstStyle/>
          <a:p>
            <a:pPr algn="ctr" indent="0" marL="0">
              <a:buNone/>
            </a:pPr>
            <a:r>
              <a:rPr lang="en-US" sz="780" dirty="0">
                <a:solidFill>
                  <a:srgbClr val="1E2933"/>
                </a:solidFill>
              </a:rPr>
              <a:t>0.520</a:t>
            </a:r>
            <a:endParaRPr lang="en-US" sz="780" dirty="0"/>
          </a:p>
        </p:txBody>
      </p:sp>
      <p:sp>
        <p:nvSpPr>
          <p:cNvPr id="174" name="Text 153"/>
          <p:cNvSpPr/>
          <p:nvPr/>
        </p:nvSpPr>
        <p:spPr>
          <a:xfrm>
            <a:off x="8522208" y="16733520"/>
            <a:ext cx="713232" cy="128016"/>
          </a:xfrm>
          <a:prstGeom prst="rect">
            <a:avLst/>
          </a:prstGeom>
          <a:noFill/>
          <a:ln/>
        </p:spPr>
        <p:txBody>
          <a:bodyPr wrap="square" lIns="0" tIns="0" rIns="0" bIns="0" rtlCol="0" anchor="ctr"/>
          <a:lstStyle/>
          <a:p>
            <a:pPr algn="ctr" indent="0" marL="0">
              <a:buNone/>
            </a:pPr>
            <a:r>
              <a:rPr lang="en-US" sz="780" dirty="0">
                <a:solidFill>
                  <a:srgbClr val="1E2933"/>
                </a:solidFill>
              </a:rPr>
              <a:t>0.210</a:t>
            </a:r>
            <a:endParaRPr lang="en-US" sz="780" dirty="0"/>
          </a:p>
        </p:txBody>
      </p:sp>
      <p:sp>
        <p:nvSpPr>
          <p:cNvPr id="175" name="Text 154"/>
          <p:cNvSpPr/>
          <p:nvPr/>
        </p:nvSpPr>
        <p:spPr>
          <a:xfrm>
            <a:off x="5541264" y="17053560"/>
            <a:ext cx="1335024" cy="128016"/>
          </a:xfrm>
          <a:prstGeom prst="rect">
            <a:avLst/>
          </a:prstGeom>
          <a:noFill/>
          <a:ln/>
        </p:spPr>
        <p:txBody>
          <a:bodyPr wrap="square" lIns="0" tIns="0" rIns="0" bIns="0" rtlCol="0" anchor="ctr"/>
          <a:lstStyle/>
          <a:p>
            <a:pPr algn="ctr" indent="0" marL="0">
              <a:buNone/>
            </a:pPr>
            <a:r>
              <a:rPr lang="en-US" sz="780" b="1" dirty="0">
                <a:solidFill>
                  <a:srgbClr val="17365D"/>
                </a:solidFill>
              </a:rPr>
              <a:t>Graph-Based</a:t>
            </a:r>
            <a:endParaRPr lang="en-US" sz="780" dirty="0"/>
          </a:p>
        </p:txBody>
      </p:sp>
      <p:sp>
        <p:nvSpPr>
          <p:cNvPr id="176" name="Text 155"/>
          <p:cNvSpPr/>
          <p:nvPr/>
        </p:nvSpPr>
        <p:spPr>
          <a:xfrm>
            <a:off x="6949440" y="17053560"/>
            <a:ext cx="731520" cy="128016"/>
          </a:xfrm>
          <a:prstGeom prst="rect">
            <a:avLst/>
          </a:prstGeom>
          <a:noFill/>
          <a:ln/>
        </p:spPr>
        <p:txBody>
          <a:bodyPr wrap="square" lIns="0" tIns="0" rIns="0" bIns="0" rtlCol="0" anchor="ctr"/>
          <a:lstStyle/>
          <a:p>
            <a:pPr algn="ctr" indent="0" marL="0">
              <a:buNone/>
            </a:pPr>
            <a:r>
              <a:rPr lang="en-US" sz="780" b="1" dirty="0">
                <a:solidFill>
                  <a:srgbClr val="17365D"/>
                </a:solidFill>
              </a:rPr>
              <a:t>0.823</a:t>
            </a:r>
            <a:endParaRPr lang="en-US" sz="780" dirty="0"/>
          </a:p>
        </p:txBody>
      </p:sp>
      <p:sp>
        <p:nvSpPr>
          <p:cNvPr id="177" name="Text 156"/>
          <p:cNvSpPr/>
          <p:nvPr/>
        </p:nvSpPr>
        <p:spPr>
          <a:xfrm>
            <a:off x="7735824" y="17053560"/>
            <a:ext cx="731520" cy="128016"/>
          </a:xfrm>
          <a:prstGeom prst="rect">
            <a:avLst/>
          </a:prstGeom>
          <a:noFill/>
          <a:ln/>
        </p:spPr>
        <p:txBody>
          <a:bodyPr wrap="square" lIns="0" tIns="0" rIns="0" bIns="0" rtlCol="0" anchor="ctr"/>
          <a:lstStyle/>
          <a:p>
            <a:pPr algn="ctr" indent="0" marL="0">
              <a:buNone/>
            </a:pPr>
            <a:r>
              <a:rPr lang="en-US" sz="780" b="1" dirty="0">
                <a:solidFill>
                  <a:srgbClr val="17365D"/>
                </a:solidFill>
              </a:rPr>
              <a:t>0.623</a:t>
            </a:r>
            <a:endParaRPr lang="en-US" sz="780" dirty="0"/>
          </a:p>
        </p:txBody>
      </p:sp>
      <p:sp>
        <p:nvSpPr>
          <p:cNvPr id="178" name="Text 157"/>
          <p:cNvSpPr/>
          <p:nvPr/>
        </p:nvSpPr>
        <p:spPr>
          <a:xfrm>
            <a:off x="8522208" y="17053560"/>
            <a:ext cx="713232" cy="128016"/>
          </a:xfrm>
          <a:prstGeom prst="rect">
            <a:avLst/>
          </a:prstGeom>
          <a:noFill/>
          <a:ln/>
        </p:spPr>
        <p:txBody>
          <a:bodyPr wrap="square" lIns="0" tIns="0" rIns="0" bIns="0" rtlCol="0" anchor="ctr"/>
          <a:lstStyle/>
          <a:p>
            <a:pPr algn="ctr" indent="0" marL="0">
              <a:buNone/>
            </a:pPr>
            <a:r>
              <a:rPr lang="en-US" sz="780" b="1" dirty="0">
                <a:solidFill>
                  <a:srgbClr val="17365D"/>
                </a:solidFill>
              </a:rPr>
              <a:t>0.119</a:t>
            </a:r>
            <a:endParaRPr lang="en-US" sz="780" dirty="0"/>
          </a:p>
        </p:txBody>
      </p:sp>
      <p:pic>
        <p:nvPicPr>
          <p:cNvPr id="179" name="Image 18" descr="/mnt/data/poster_assets/performance_chart.png">    </p:cNvPr>
          <p:cNvPicPr>
            <a:picLocks noChangeAspect="1"/>
          </p:cNvPicPr>
          <p:nvPr/>
        </p:nvPicPr>
        <p:blipFill>
          <a:blip r:embed="rId37"/>
          <a:stretch>
            <a:fillRect/>
          </a:stretch>
        </p:blipFill>
        <p:spPr>
          <a:xfrm>
            <a:off x="9454896" y="16383367"/>
            <a:ext cx="3621024" cy="2318794"/>
          </a:xfrm>
          <a:prstGeom prst="rect">
            <a:avLst/>
          </a:prstGeom>
        </p:spPr>
      </p:pic>
      <p:pic>
        <p:nvPicPr>
          <p:cNvPr id="180" name="Image 19" descr="/mnt/data/poster_assets/confusion_matrices.png">    </p:cNvPr>
          <p:cNvPicPr>
            <a:picLocks noChangeAspect="1"/>
          </p:cNvPicPr>
          <p:nvPr/>
        </p:nvPicPr>
        <p:blipFill>
          <a:blip r:embed="rId38"/>
          <a:stretch>
            <a:fillRect/>
          </a:stretch>
        </p:blipFill>
        <p:spPr>
          <a:xfrm>
            <a:off x="5538939" y="17428464"/>
            <a:ext cx="4284042" cy="2011680"/>
          </a:xfrm>
          <a:prstGeom prst="rect">
            <a:avLst/>
          </a:prstGeom>
        </p:spPr>
      </p:pic>
      <p:sp>
        <p:nvSpPr>
          <p:cNvPr id="181" name="Shape 158"/>
          <p:cNvSpPr/>
          <p:nvPr/>
        </p:nvSpPr>
        <p:spPr>
          <a:xfrm>
            <a:off x="9930384" y="18790920"/>
            <a:ext cx="2999232" cy="2368296"/>
          </a:xfrm>
          <a:prstGeom prst="roundRect">
            <a:avLst>
              <a:gd name="adj" fmla="val 1544"/>
            </a:avLst>
          </a:prstGeom>
          <a:solidFill>
            <a:srgbClr val="DCECF8"/>
          </a:solidFill>
          <a:ln w="10160">
            <a:solidFill>
              <a:srgbClr val="2E77B8"/>
            </a:solidFill>
            <a:prstDash val="solid"/>
          </a:ln>
        </p:spPr>
      </p:sp>
      <p:sp>
        <p:nvSpPr>
          <p:cNvPr id="182" name="Text 159"/>
          <p:cNvSpPr/>
          <p:nvPr/>
        </p:nvSpPr>
        <p:spPr>
          <a:xfrm>
            <a:off x="10168128" y="18992088"/>
            <a:ext cx="2514600" cy="201168"/>
          </a:xfrm>
          <a:prstGeom prst="rect">
            <a:avLst/>
          </a:prstGeom>
          <a:noFill/>
          <a:ln/>
        </p:spPr>
        <p:txBody>
          <a:bodyPr wrap="square" lIns="0" tIns="0" rIns="0" bIns="0" rtlCol="0" anchor="ctr"/>
          <a:lstStyle/>
          <a:p>
            <a:pPr indent="0" marL="0">
              <a:buNone/>
            </a:pPr>
            <a:r>
              <a:rPr lang="en-US" sz="920" b="1" dirty="0">
                <a:solidFill>
                  <a:srgbClr val="2E77B8"/>
                </a:solidFill>
                <a:latin typeface="Liberation Sans" pitchFamily="34" charset="0"/>
                <a:ea typeface="Liberation Sans" pitchFamily="34" charset="-122"/>
                <a:cs typeface="Liberation Sans" pitchFamily="34" charset="-120"/>
              </a:rPr>
              <a:t>Observed interpretation</a:t>
            </a:r>
            <a:endParaRPr lang="en-US" sz="920" dirty="0"/>
          </a:p>
        </p:txBody>
      </p:sp>
      <p:sp>
        <p:nvSpPr>
          <p:cNvPr id="183" name="Text 160"/>
          <p:cNvSpPr/>
          <p:nvPr/>
        </p:nvSpPr>
        <p:spPr>
          <a:xfrm>
            <a:off x="10149840" y="19312128"/>
            <a:ext cx="2542032" cy="1508760"/>
          </a:xfrm>
          <a:prstGeom prst="rect">
            <a:avLst/>
          </a:prstGeom>
          <a:noFill/>
          <a:ln/>
        </p:spPr>
        <p:txBody>
          <a:bodyPr wrap="square" lIns="254" tIns="254" rIns="254" bIns="254" rtlCol="0" anchor="t">
            <a:normAutofit/>
          </a:bodyPr>
          <a:lstStyle/>
          <a:p>
            <a:pPr marL="114745" indent="-114745">
              <a:buSzPct val="100000"/>
              <a:buChar char="•"/>
            </a:pPr>
            <a:r>
              <a:rPr lang="en-US" sz="695" dirty="0">
                <a:solidFill>
                  <a:srgbClr val="1E2933"/>
                </a:solidFill>
                <a:latin typeface="Liberation Sans" pitchFamily="34" charset="0"/>
                <a:ea typeface="Liberation Sans" pitchFamily="34" charset="-122"/>
                <a:cs typeface="Liberation Sans" pitchFamily="34" charset="-120"/>
              </a:rPr>
              <a:t>Precision increased by 13.6 percentage points</a:t>
            </a:r>
            <a:endParaRPr lang="en-US" sz="695" dirty="0"/>
          </a:p>
          <a:p>
            <a:pPr marL="114745" indent="-114745">
              <a:buSzPct val="100000"/>
              <a:buChar char="•"/>
            </a:pPr>
            <a:r>
              <a:rPr lang="en-US" sz="695" dirty="0">
                <a:solidFill>
                  <a:srgbClr val="1E2933"/>
                </a:solidFill>
                <a:latin typeface="Liberation Sans" pitchFamily="34" charset="0"/>
                <a:ea typeface="Liberation Sans" pitchFamily="34" charset="-122"/>
                <a:cs typeface="Liberation Sans" pitchFamily="34" charset="-120"/>
              </a:rPr>
              <a:t>Recall increased by 10.3 percentage points</a:t>
            </a:r>
            <a:endParaRPr lang="en-US" sz="695" dirty="0"/>
          </a:p>
          <a:p>
            <a:pPr marL="114745" indent="-114745">
              <a:buSzPct val="100000"/>
              <a:buChar char="•"/>
            </a:pPr>
            <a:r>
              <a:rPr lang="en-US" sz="695" dirty="0">
                <a:solidFill>
                  <a:srgbClr val="1E2933"/>
                </a:solidFill>
                <a:latin typeface="Liberation Sans" pitchFamily="34" charset="0"/>
                <a:ea typeface="Liberation Sans" pitchFamily="34" charset="-122"/>
                <a:cs typeface="Liberation Sans" pitchFamily="34" charset="-120"/>
              </a:rPr>
              <a:t>FPR decreased by 9.1 percentage points</a:t>
            </a:r>
            <a:endParaRPr lang="en-US" sz="695" dirty="0"/>
          </a:p>
          <a:p>
            <a:pPr marL="114745" indent="-114745">
              <a:buSzPct val="100000"/>
              <a:buChar char="•"/>
            </a:pPr>
            <a:r>
              <a:rPr lang="en-US" sz="695" dirty="0">
                <a:solidFill>
                  <a:srgbClr val="1E2933"/>
                </a:solidFill>
                <a:latin typeface="Liberation Sans" pitchFamily="34" charset="0"/>
                <a:ea typeface="Liberation Sans" pitchFamily="34" charset="-122"/>
                <a:cs typeface="Liberation Sans" pitchFamily="34" charset="-120"/>
              </a:rPr>
              <a:t>Attack-chain detection: 97.4% graph vs 94.1% baseline</a:t>
            </a:r>
            <a:endParaRPr lang="en-US" sz="695" dirty="0"/>
          </a:p>
          <a:p>
            <a:pPr marL="114745" indent="-114745">
              <a:buSzPct val="100000"/>
              <a:buChar char="•"/>
            </a:pPr>
            <a:r>
              <a:rPr lang="en-US" sz="695" dirty="0">
                <a:solidFill>
                  <a:srgbClr val="1E2933"/>
                </a:solidFill>
                <a:latin typeface="Liberation Sans" pitchFamily="34" charset="0"/>
                <a:ea typeface="Liberation Sans" pitchFamily="34" charset="-122"/>
                <a:cs typeface="Liberation Sans" pitchFamily="34" charset="-120"/>
              </a:rPr>
              <a:t>Tradeoff: DC-target recall was 65.6% graph vs 100% baseline</a:t>
            </a:r>
            <a:endParaRPr lang="en-US" sz="695" dirty="0"/>
          </a:p>
        </p:txBody>
      </p:sp>
      <p:sp>
        <p:nvSpPr>
          <p:cNvPr id="184" name="Text 161"/>
          <p:cNvSpPr/>
          <p:nvPr/>
        </p:nvSpPr>
        <p:spPr>
          <a:xfrm>
            <a:off x="6528816" y="21204936"/>
            <a:ext cx="5650992" cy="164592"/>
          </a:xfrm>
          <a:prstGeom prst="rect">
            <a:avLst/>
          </a:prstGeom>
          <a:noFill/>
          <a:ln/>
        </p:spPr>
        <p:txBody>
          <a:bodyPr wrap="square" lIns="0" tIns="0" rIns="0" bIns="0" rtlCol="0" anchor="ctr"/>
          <a:lstStyle/>
          <a:p>
            <a:pPr algn="ctr" indent="0" marL="0">
              <a:buNone/>
            </a:pPr>
            <a:r>
              <a:rPr lang="en-US" sz="650" i="1" dirty="0">
                <a:solidFill>
                  <a:srgbClr val="5F6B76"/>
                </a:solidFill>
              </a:rPr>
              <a:t>Fig. 3. Point estimates from one held-out test set. No target metrics or repeated-run averages are used.</a:t>
            </a:r>
            <a:endParaRPr lang="en-US" sz="650" dirty="0"/>
          </a:p>
        </p:txBody>
      </p:sp>
      <p:sp>
        <p:nvSpPr>
          <p:cNvPr id="185" name="Text 162"/>
          <p:cNvSpPr/>
          <p:nvPr/>
        </p:nvSpPr>
        <p:spPr>
          <a:xfrm>
            <a:off x="658368" y="22475952"/>
            <a:ext cx="3685032" cy="1828800"/>
          </a:xfrm>
          <a:prstGeom prst="rect">
            <a:avLst/>
          </a:prstGeom>
          <a:noFill/>
          <a:ln/>
        </p:spPr>
        <p:txBody>
          <a:bodyPr wrap="square" lIns="381" tIns="381" rIns="381" bIns="381" rtlCol="0" anchor="t">
            <a:normAutofit/>
          </a:bodyPr>
          <a:lstStyle/>
          <a:p>
            <a:pPr algn="l" indent="0" marL="0">
              <a:lnSpc>
                <a:spcPct val="95000"/>
              </a:lnSpc>
              <a:buNone/>
            </a:pPr>
            <a:r>
              <a:rPr lang="en-US" sz="855" dirty="0">
                <a:solidFill>
                  <a:srgbClr val="1E2933"/>
                </a:solidFill>
                <a:latin typeface="Liberation Sans" pitchFamily="34" charset="0"/>
                <a:ea typeface="Liberation Sans" pitchFamily="34" charset="-122"/>
                <a:cs typeface="Liberation Sans" pitchFamily="34" charset="-120"/>
              </a:rPr>
              <a:t>On the held-out test period, graph-assisted scoring improved precision and recall while reducing the false-positive rate under the same alert volume. It also detected a larger fraction of attack chains. However, the simple rule baseline captured more malicious DC-01 target events, showing that aggregate gains can hide target-specific tradeoffs. The study supports graph context as a useful feasibility direction, not as evidence of production readiness.</a:t>
            </a:r>
            <a:endParaRPr lang="en-US" sz="855" dirty="0"/>
          </a:p>
        </p:txBody>
      </p:sp>
      <p:sp>
        <p:nvSpPr>
          <p:cNvPr id="186" name="Shape 163"/>
          <p:cNvSpPr/>
          <p:nvPr/>
        </p:nvSpPr>
        <p:spPr>
          <a:xfrm>
            <a:off x="667512" y="24432768"/>
            <a:ext cx="1069848" cy="493776"/>
          </a:xfrm>
          <a:prstGeom prst="roundRect">
            <a:avLst>
              <a:gd name="adj" fmla="val 5556"/>
            </a:avLst>
          </a:prstGeom>
          <a:solidFill>
            <a:srgbClr val="DCECF8"/>
          </a:solidFill>
          <a:ln w="8890">
            <a:solidFill>
              <a:srgbClr val="2E77B8"/>
            </a:solidFill>
            <a:prstDash val="solid"/>
          </a:ln>
        </p:spPr>
      </p:sp>
      <p:sp>
        <p:nvSpPr>
          <p:cNvPr id="187" name="Text 164"/>
          <p:cNvSpPr/>
          <p:nvPr/>
        </p:nvSpPr>
        <p:spPr>
          <a:xfrm>
            <a:off x="694944" y="24524208"/>
            <a:ext cx="1014984" cy="146304"/>
          </a:xfrm>
          <a:prstGeom prst="rect">
            <a:avLst/>
          </a:prstGeom>
          <a:noFill/>
          <a:ln/>
        </p:spPr>
        <p:txBody>
          <a:bodyPr wrap="square" lIns="0" tIns="0" rIns="0" bIns="0" rtlCol="0" anchor="ctr"/>
          <a:lstStyle/>
          <a:p>
            <a:pPr algn="ctr" indent="0" marL="0">
              <a:buNone/>
            </a:pPr>
            <a:r>
              <a:rPr lang="en-US" sz="850" b="1" dirty="0">
                <a:solidFill>
                  <a:srgbClr val="17365D"/>
                </a:solidFill>
              </a:rPr>
              <a:t>+13.6 pts</a:t>
            </a:r>
            <a:endParaRPr lang="en-US" sz="850" dirty="0"/>
          </a:p>
        </p:txBody>
      </p:sp>
      <p:sp>
        <p:nvSpPr>
          <p:cNvPr id="188" name="Text 165"/>
          <p:cNvSpPr/>
          <p:nvPr/>
        </p:nvSpPr>
        <p:spPr>
          <a:xfrm>
            <a:off x="694944" y="24725376"/>
            <a:ext cx="1014984" cy="109728"/>
          </a:xfrm>
          <a:prstGeom prst="rect">
            <a:avLst/>
          </a:prstGeom>
          <a:noFill/>
          <a:ln/>
        </p:spPr>
        <p:txBody>
          <a:bodyPr wrap="square" lIns="0" tIns="0" rIns="0" bIns="0" rtlCol="0" anchor="ctr"/>
          <a:lstStyle/>
          <a:p>
            <a:pPr algn="ctr" indent="0" marL="0">
              <a:buNone/>
            </a:pPr>
            <a:r>
              <a:rPr lang="en-US" sz="610" dirty="0">
                <a:solidFill>
                  <a:srgbClr val="5F6B76"/>
                </a:solidFill>
              </a:rPr>
              <a:t>Precision</a:t>
            </a:r>
            <a:endParaRPr lang="en-US" sz="610" dirty="0"/>
          </a:p>
        </p:txBody>
      </p:sp>
      <p:sp>
        <p:nvSpPr>
          <p:cNvPr id="189" name="Shape 166"/>
          <p:cNvSpPr/>
          <p:nvPr/>
        </p:nvSpPr>
        <p:spPr>
          <a:xfrm>
            <a:off x="1883664" y="24432768"/>
            <a:ext cx="1069848" cy="493776"/>
          </a:xfrm>
          <a:prstGeom prst="roundRect">
            <a:avLst>
              <a:gd name="adj" fmla="val 5556"/>
            </a:avLst>
          </a:prstGeom>
          <a:solidFill>
            <a:srgbClr val="DCECF8"/>
          </a:solidFill>
          <a:ln w="8890">
            <a:solidFill>
              <a:srgbClr val="2E77B8"/>
            </a:solidFill>
            <a:prstDash val="solid"/>
          </a:ln>
        </p:spPr>
      </p:sp>
      <p:sp>
        <p:nvSpPr>
          <p:cNvPr id="190" name="Text 167"/>
          <p:cNvSpPr/>
          <p:nvPr/>
        </p:nvSpPr>
        <p:spPr>
          <a:xfrm>
            <a:off x="1911096" y="24524208"/>
            <a:ext cx="1014984" cy="146304"/>
          </a:xfrm>
          <a:prstGeom prst="rect">
            <a:avLst/>
          </a:prstGeom>
          <a:noFill/>
          <a:ln/>
        </p:spPr>
        <p:txBody>
          <a:bodyPr wrap="square" lIns="0" tIns="0" rIns="0" bIns="0" rtlCol="0" anchor="ctr"/>
          <a:lstStyle/>
          <a:p>
            <a:pPr algn="ctr" indent="0" marL="0">
              <a:buNone/>
            </a:pPr>
            <a:r>
              <a:rPr lang="en-US" sz="850" b="1" dirty="0">
                <a:solidFill>
                  <a:srgbClr val="17365D"/>
                </a:solidFill>
              </a:rPr>
              <a:t>+10.3 pts</a:t>
            </a:r>
            <a:endParaRPr lang="en-US" sz="850" dirty="0"/>
          </a:p>
        </p:txBody>
      </p:sp>
      <p:sp>
        <p:nvSpPr>
          <p:cNvPr id="191" name="Text 168"/>
          <p:cNvSpPr/>
          <p:nvPr/>
        </p:nvSpPr>
        <p:spPr>
          <a:xfrm>
            <a:off x="1911096" y="24725376"/>
            <a:ext cx="1014984" cy="109728"/>
          </a:xfrm>
          <a:prstGeom prst="rect">
            <a:avLst/>
          </a:prstGeom>
          <a:noFill/>
          <a:ln/>
        </p:spPr>
        <p:txBody>
          <a:bodyPr wrap="square" lIns="0" tIns="0" rIns="0" bIns="0" rtlCol="0" anchor="ctr"/>
          <a:lstStyle/>
          <a:p>
            <a:pPr algn="ctr" indent="0" marL="0">
              <a:buNone/>
            </a:pPr>
            <a:r>
              <a:rPr lang="en-US" sz="610" dirty="0">
                <a:solidFill>
                  <a:srgbClr val="5F6B76"/>
                </a:solidFill>
              </a:rPr>
              <a:t>Recall</a:t>
            </a:r>
            <a:endParaRPr lang="en-US" sz="610" dirty="0"/>
          </a:p>
        </p:txBody>
      </p:sp>
      <p:sp>
        <p:nvSpPr>
          <p:cNvPr id="192" name="Shape 169"/>
          <p:cNvSpPr/>
          <p:nvPr/>
        </p:nvSpPr>
        <p:spPr>
          <a:xfrm>
            <a:off x="3099816" y="24432768"/>
            <a:ext cx="1069848" cy="493776"/>
          </a:xfrm>
          <a:prstGeom prst="roundRect">
            <a:avLst>
              <a:gd name="adj" fmla="val 5556"/>
            </a:avLst>
          </a:prstGeom>
          <a:solidFill>
            <a:srgbClr val="E7F3E7"/>
          </a:solidFill>
          <a:ln w="8890">
            <a:solidFill>
              <a:srgbClr val="4E9B50"/>
            </a:solidFill>
            <a:prstDash val="solid"/>
          </a:ln>
        </p:spPr>
      </p:sp>
      <p:sp>
        <p:nvSpPr>
          <p:cNvPr id="193" name="Text 170"/>
          <p:cNvSpPr/>
          <p:nvPr/>
        </p:nvSpPr>
        <p:spPr>
          <a:xfrm>
            <a:off x="3127248" y="24524208"/>
            <a:ext cx="1014984" cy="146304"/>
          </a:xfrm>
          <a:prstGeom prst="rect">
            <a:avLst/>
          </a:prstGeom>
          <a:noFill/>
          <a:ln/>
        </p:spPr>
        <p:txBody>
          <a:bodyPr wrap="square" lIns="0" tIns="0" rIns="0" bIns="0" rtlCol="0" anchor="ctr"/>
          <a:lstStyle/>
          <a:p>
            <a:pPr algn="ctr" indent="0" marL="0">
              <a:buNone/>
            </a:pPr>
            <a:r>
              <a:rPr lang="en-US" sz="850" b="1" dirty="0">
                <a:solidFill>
                  <a:srgbClr val="17365D"/>
                </a:solidFill>
              </a:rPr>
              <a:t>-9.1 pts</a:t>
            </a:r>
            <a:endParaRPr lang="en-US" sz="850" dirty="0"/>
          </a:p>
        </p:txBody>
      </p:sp>
      <p:sp>
        <p:nvSpPr>
          <p:cNvPr id="194" name="Text 171"/>
          <p:cNvSpPr/>
          <p:nvPr/>
        </p:nvSpPr>
        <p:spPr>
          <a:xfrm>
            <a:off x="3127248" y="24725376"/>
            <a:ext cx="1014984" cy="109728"/>
          </a:xfrm>
          <a:prstGeom prst="rect">
            <a:avLst/>
          </a:prstGeom>
          <a:noFill/>
          <a:ln/>
        </p:spPr>
        <p:txBody>
          <a:bodyPr wrap="square" lIns="0" tIns="0" rIns="0" bIns="0" rtlCol="0" anchor="ctr"/>
          <a:lstStyle/>
          <a:p>
            <a:pPr algn="ctr" indent="0" marL="0">
              <a:buNone/>
            </a:pPr>
            <a:r>
              <a:rPr lang="en-US" sz="610" dirty="0">
                <a:solidFill>
                  <a:srgbClr val="5F6B76"/>
                </a:solidFill>
              </a:rPr>
              <a:t>FPR</a:t>
            </a:r>
            <a:endParaRPr lang="en-US" sz="610" dirty="0"/>
          </a:p>
        </p:txBody>
      </p:sp>
      <p:pic>
        <p:nvPicPr>
          <p:cNvPr id="195" name="Image 20" descr="preencoded.png">    </p:cNvPr>
          <p:cNvPicPr>
            <a:picLocks noChangeAspect="1"/>
          </p:cNvPicPr>
          <p:nvPr/>
        </p:nvPicPr>
        <p:blipFill>
          <a:blip r:embed="rId39">
            <a:extLst>
              <a:ext uri="{96DAC541-7B7A-43D3-8B79-37D633B846F1}">
                <asvg:svgBlip xmlns:asvg="http://schemas.microsoft.com/office/drawing/2016/SVG/main" r:embed="rId40"/>
              </a:ext>
            </a:extLst>
          </a:blip>
          <a:stretch>
            <a:fillRect/>
          </a:stretch>
        </p:blipFill>
        <p:spPr>
          <a:xfrm>
            <a:off x="5083493" y="22521672"/>
            <a:ext cx="248031" cy="283464"/>
          </a:xfrm>
          <a:prstGeom prst="rect">
            <a:avLst/>
          </a:prstGeom>
        </p:spPr>
      </p:pic>
      <p:sp>
        <p:nvSpPr>
          <p:cNvPr id="196" name="Text 172"/>
          <p:cNvSpPr/>
          <p:nvPr/>
        </p:nvSpPr>
        <p:spPr>
          <a:xfrm>
            <a:off x="5449824" y="22512528"/>
            <a:ext cx="3291840" cy="310896"/>
          </a:xfrm>
          <a:prstGeom prst="rect">
            <a:avLst/>
          </a:prstGeom>
          <a:noFill/>
          <a:ln/>
        </p:spPr>
        <p:txBody>
          <a:bodyPr wrap="square" lIns="381" tIns="381" rIns="381" bIns="381" rtlCol="0" anchor="ctr">
            <a:normAutofit/>
          </a:bodyPr>
          <a:lstStyle/>
          <a:p>
            <a:pPr algn="l" indent="0" marL="0">
              <a:lnSpc>
                <a:spcPct val="95000"/>
              </a:lnSpc>
              <a:buNone/>
            </a:pPr>
            <a:r>
              <a:rPr lang="en-US" sz="725" dirty="0">
                <a:solidFill>
                  <a:srgbClr val="1E2933"/>
                </a:solidFill>
                <a:latin typeface="Liberation Sans" pitchFamily="34" charset="0"/>
                <a:ea typeface="Liberation Sans" pitchFamily="34" charset="-122"/>
                <a:cs typeface="Liberation Sans" pitchFamily="34" charset="-120"/>
              </a:rPr>
              <a:t>Validate on real datasets such as LANL and CERT</a:t>
            </a:r>
            <a:endParaRPr lang="en-US" sz="725" dirty="0"/>
          </a:p>
        </p:txBody>
      </p:sp>
      <p:pic>
        <p:nvPicPr>
          <p:cNvPr id="197" name="Image 21" descr="preencoded.png">    </p:cNvPr>
          <p:cNvPicPr>
            <a:picLocks noChangeAspect="1"/>
          </p:cNvPicPr>
          <p:nvPr/>
        </p:nvPicPr>
        <p:blipFill>
          <a:blip r:embed="rId41">
            <a:extLst>
              <a:ext uri="{96DAC541-7B7A-43D3-8B79-37D633B846F1}">
                <asvg:svgBlip xmlns:asvg="http://schemas.microsoft.com/office/drawing/2016/SVG/main" r:embed="rId42"/>
              </a:ext>
            </a:extLst>
          </a:blip>
          <a:stretch>
            <a:fillRect/>
          </a:stretch>
        </p:blipFill>
        <p:spPr>
          <a:xfrm>
            <a:off x="5083493" y="22969728"/>
            <a:ext cx="248031" cy="283464"/>
          </a:xfrm>
          <a:prstGeom prst="rect">
            <a:avLst/>
          </a:prstGeom>
        </p:spPr>
      </p:pic>
      <p:sp>
        <p:nvSpPr>
          <p:cNvPr id="198" name="Text 173"/>
          <p:cNvSpPr/>
          <p:nvPr/>
        </p:nvSpPr>
        <p:spPr>
          <a:xfrm>
            <a:off x="5449824" y="22960584"/>
            <a:ext cx="3291840" cy="310896"/>
          </a:xfrm>
          <a:prstGeom prst="rect">
            <a:avLst/>
          </a:prstGeom>
          <a:noFill/>
          <a:ln/>
        </p:spPr>
        <p:txBody>
          <a:bodyPr wrap="square" lIns="381" tIns="381" rIns="381" bIns="381" rtlCol="0" anchor="ctr">
            <a:normAutofit/>
          </a:bodyPr>
          <a:lstStyle/>
          <a:p>
            <a:pPr algn="l" indent="0" marL="0">
              <a:lnSpc>
                <a:spcPct val="95000"/>
              </a:lnSpc>
              <a:buNone/>
            </a:pPr>
            <a:r>
              <a:rPr lang="en-US" sz="725" dirty="0">
                <a:solidFill>
                  <a:srgbClr val="1E2933"/>
                </a:solidFill>
                <a:latin typeface="Liberation Sans" pitchFamily="34" charset="0"/>
                <a:ea typeface="Liberation Sans" pitchFamily="34" charset="-122"/>
                <a:cs typeface="Liberation Sans" pitchFamily="34" charset="-120"/>
              </a:rPr>
              <a:t>Test realistic low-prevalence and noisy-label settings</a:t>
            </a:r>
            <a:endParaRPr lang="en-US" sz="725" dirty="0"/>
          </a:p>
        </p:txBody>
      </p:sp>
      <p:pic>
        <p:nvPicPr>
          <p:cNvPr id="199" name="Image 22" descr="preencoded.png">    </p:cNvPr>
          <p:cNvPicPr>
            <a:picLocks noChangeAspect="1"/>
          </p:cNvPicPr>
          <p:nvPr/>
        </p:nvPicPr>
        <p:blipFill>
          <a:blip r:embed="rId43">
            <a:extLst>
              <a:ext uri="{96DAC541-7B7A-43D3-8B79-37D633B846F1}">
                <asvg:svgBlip xmlns:asvg="http://schemas.microsoft.com/office/drawing/2016/SVG/main" r:embed="rId44"/>
              </a:ext>
            </a:extLst>
          </a:blip>
          <a:stretch>
            <a:fillRect/>
          </a:stretch>
        </p:blipFill>
        <p:spPr>
          <a:xfrm>
            <a:off x="5065776" y="23446130"/>
            <a:ext cx="283464" cy="226771"/>
          </a:xfrm>
          <a:prstGeom prst="rect">
            <a:avLst/>
          </a:prstGeom>
        </p:spPr>
      </p:pic>
      <p:sp>
        <p:nvSpPr>
          <p:cNvPr id="200" name="Text 174"/>
          <p:cNvSpPr/>
          <p:nvPr/>
        </p:nvSpPr>
        <p:spPr>
          <a:xfrm>
            <a:off x="5449824" y="23408640"/>
            <a:ext cx="3291840" cy="310896"/>
          </a:xfrm>
          <a:prstGeom prst="rect">
            <a:avLst/>
          </a:prstGeom>
          <a:noFill/>
          <a:ln/>
        </p:spPr>
        <p:txBody>
          <a:bodyPr wrap="square" lIns="381" tIns="381" rIns="381" bIns="381" rtlCol="0" anchor="ctr">
            <a:normAutofit/>
          </a:bodyPr>
          <a:lstStyle/>
          <a:p>
            <a:pPr algn="l" indent="0" marL="0">
              <a:lnSpc>
                <a:spcPct val="95000"/>
              </a:lnSpc>
              <a:buNone/>
            </a:pPr>
            <a:r>
              <a:rPr lang="en-US" sz="725" dirty="0">
                <a:solidFill>
                  <a:srgbClr val="1E2933"/>
                </a:solidFill>
                <a:latin typeface="Liberation Sans" pitchFamily="34" charset="0"/>
                <a:ea typeface="Liberation Sans" pitchFamily="34" charset="-122"/>
                <a:cs typeface="Liberation Sans" pitchFamily="34" charset="-120"/>
              </a:rPr>
              <a:t>Compare with peer-group, UEBA, and stronger temporal baselines</a:t>
            </a:r>
            <a:endParaRPr lang="en-US" sz="725" dirty="0"/>
          </a:p>
        </p:txBody>
      </p:sp>
      <p:pic>
        <p:nvPicPr>
          <p:cNvPr id="201" name="Image 23" descr="preencoded.png">    </p:cNvPr>
          <p:cNvPicPr>
            <a:picLocks noChangeAspect="1"/>
          </p:cNvPicPr>
          <p:nvPr/>
        </p:nvPicPr>
        <p:blipFill>
          <a:blip r:embed="rId45">
            <a:extLst>
              <a:ext uri="{96DAC541-7B7A-43D3-8B79-37D633B846F1}">
                <asvg:svgBlip xmlns:asvg="http://schemas.microsoft.com/office/drawing/2016/SVG/main" r:embed="rId46"/>
              </a:ext>
            </a:extLst>
          </a:blip>
          <a:stretch>
            <a:fillRect/>
          </a:stretch>
        </p:blipFill>
        <p:spPr>
          <a:xfrm>
            <a:off x="5065776" y="23865840"/>
            <a:ext cx="283464" cy="283464"/>
          </a:xfrm>
          <a:prstGeom prst="rect">
            <a:avLst/>
          </a:prstGeom>
        </p:spPr>
      </p:pic>
      <p:sp>
        <p:nvSpPr>
          <p:cNvPr id="202" name="Text 175"/>
          <p:cNvSpPr/>
          <p:nvPr/>
        </p:nvSpPr>
        <p:spPr>
          <a:xfrm>
            <a:off x="5449824" y="23856696"/>
            <a:ext cx="3291840" cy="310896"/>
          </a:xfrm>
          <a:prstGeom prst="rect">
            <a:avLst/>
          </a:prstGeom>
          <a:noFill/>
          <a:ln/>
        </p:spPr>
        <p:txBody>
          <a:bodyPr wrap="square" lIns="381" tIns="381" rIns="381" bIns="381" rtlCol="0" anchor="ctr">
            <a:normAutofit/>
          </a:bodyPr>
          <a:lstStyle/>
          <a:p>
            <a:pPr algn="l" indent="0" marL="0">
              <a:lnSpc>
                <a:spcPct val="95000"/>
              </a:lnSpc>
              <a:buNone/>
            </a:pPr>
            <a:r>
              <a:rPr lang="en-US" sz="725" dirty="0">
                <a:solidFill>
                  <a:srgbClr val="1E2933"/>
                </a:solidFill>
                <a:latin typeface="Liberation Sans" pitchFamily="34" charset="0"/>
                <a:ea typeface="Liberation Sans" pitchFamily="34" charset="-122"/>
                <a:cs typeface="Liberation Sans" pitchFamily="34" charset="-120"/>
              </a:rPr>
              <a:t>Add endpoint and network telemetry; evaluate temporal GNNs</a:t>
            </a:r>
            <a:endParaRPr lang="en-US" sz="725" dirty="0"/>
          </a:p>
        </p:txBody>
      </p:sp>
      <p:pic>
        <p:nvPicPr>
          <p:cNvPr id="203" name="Image 24" descr="preencoded.png">    </p:cNvPr>
          <p:cNvPicPr>
            <a:picLocks noChangeAspect="1"/>
          </p:cNvPicPr>
          <p:nvPr/>
        </p:nvPicPr>
        <p:blipFill>
          <a:blip r:embed="rId47">
            <a:extLst>
              <a:ext uri="{96DAC541-7B7A-43D3-8B79-37D633B846F1}">
                <asvg:svgBlip xmlns:asvg="http://schemas.microsoft.com/office/drawing/2016/SVG/main" r:embed="rId48"/>
              </a:ext>
            </a:extLst>
          </a:blip>
          <a:stretch>
            <a:fillRect/>
          </a:stretch>
        </p:blipFill>
        <p:spPr>
          <a:xfrm>
            <a:off x="5065776" y="24313896"/>
            <a:ext cx="283464" cy="283464"/>
          </a:xfrm>
          <a:prstGeom prst="rect">
            <a:avLst/>
          </a:prstGeom>
        </p:spPr>
      </p:pic>
      <p:sp>
        <p:nvSpPr>
          <p:cNvPr id="204" name="Text 176"/>
          <p:cNvSpPr/>
          <p:nvPr/>
        </p:nvSpPr>
        <p:spPr>
          <a:xfrm>
            <a:off x="5449824" y="24304752"/>
            <a:ext cx="3291840" cy="310896"/>
          </a:xfrm>
          <a:prstGeom prst="rect">
            <a:avLst/>
          </a:prstGeom>
          <a:noFill/>
          <a:ln/>
        </p:spPr>
        <p:txBody>
          <a:bodyPr wrap="square" lIns="381" tIns="381" rIns="381" bIns="381" rtlCol="0" anchor="ctr">
            <a:normAutofit/>
          </a:bodyPr>
          <a:lstStyle/>
          <a:p>
            <a:pPr algn="l" indent="0" marL="0">
              <a:lnSpc>
                <a:spcPct val="95000"/>
              </a:lnSpc>
              <a:buNone/>
            </a:pPr>
            <a:r>
              <a:rPr lang="en-US" sz="725" dirty="0">
                <a:solidFill>
                  <a:srgbClr val="1E2933"/>
                </a:solidFill>
                <a:latin typeface="Liberation Sans" pitchFamily="34" charset="0"/>
                <a:ea typeface="Liberation Sans" pitchFamily="34" charset="-122"/>
                <a:cs typeface="Liberation Sans" pitchFamily="34" charset="-120"/>
              </a:rPr>
              <a:t>Measure scalability and streaming latency in larger environments</a:t>
            </a:r>
            <a:endParaRPr lang="en-US" sz="725" dirty="0"/>
          </a:p>
        </p:txBody>
      </p:sp>
      <p:pic>
        <p:nvPicPr>
          <p:cNvPr id="205" name="Image 25" descr="preencoded.png">    </p:cNvPr>
          <p:cNvPicPr>
            <a:picLocks noChangeAspect="1"/>
          </p:cNvPicPr>
          <p:nvPr/>
        </p:nvPicPr>
        <p:blipFill>
          <a:blip r:embed="rId49">
            <a:extLst>
              <a:ext uri="{96DAC541-7B7A-43D3-8B79-37D633B846F1}">
                <asvg:svgBlip xmlns:asvg="http://schemas.microsoft.com/office/drawing/2016/SVG/main" r:embed="rId50"/>
              </a:ext>
            </a:extLst>
          </a:blip>
          <a:stretch>
            <a:fillRect/>
          </a:stretch>
        </p:blipFill>
        <p:spPr>
          <a:xfrm>
            <a:off x="12755880" y="21943060"/>
            <a:ext cx="283464" cy="251968"/>
          </a:xfrm>
          <a:prstGeom prst="rect">
            <a:avLst/>
          </a:prstGeom>
        </p:spPr>
      </p:pic>
      <p:sp>
        <p:nvSpPr>
          <p:cNvPr id="206" name="Text 177"/>
          <p:cNvSpPr/>
          <p:nvPr/>
        </p:nvSpPr>
        <p:spPr>
          <a:xfrm>
            <a:off x="9555480" y="22539960"/>
            <a:ext cx="3493008" cy="2139696"/>
          </a:xfrm>
          <a:prstGeom prst="rect">
            <a:avLst/>
          </a:prstGeom>
          <a:noFill/>
          <a:ln/>
        </p:spPr>
        <p:txBody>
          <a:bodyPr wrap="square" lIns="381" tIns="381" rIns="381" bIns="381" rtlCol="0" anchor="t">
            <a:normAutofit/>
          </a:bodyPr>
          <a:lstStyle/>
          <a:p>
            <a:pPr algn="l" indent="0" marL="0">
              <a:lnSpc>
                <a:spcPct val="92000"/>
              </a:lnSpc>
              <a:buNone/>
            </a:pPr>
            <a:r>
              <a:rPr lang="en-US" sz="695" dirty="0">
                <a:solidFill>
                  <a:srgbClr val="1E2933"/>
                </a:solidFill>
                <a:latin typeface="Liberation Sans" pitchFamily="34" charset="0"/>
                <a:ea typeface="Liberation Sans" pitchFamily="34" charset="-122"/>
                <a:cs typeface="Liberation Sans" pitchFamily="34" charset="-120"/>
              </a:rPr>
              <a:t>[1] C. Herley and D. Florencio, "Protecting Financial Institutions from Brute-Force Attacks," IFIP SEC, 2008.</a:t>
            </a:r>
            <a:endParaRPr lang="en-US" sz="695" dirty="0"/>
          </a:p>
          <a:p>
            <a:pPr algn="l" indent="0" marL="0">
              <a:lnSpc>
                <a:spcPct val="92000"/>
              </a:lnSpc>
              <a:buNone/>
            </a:pPr>
            <a:r>
              <a:rPr lang="en-US" sz="695" dirty="0">
                <a:solidFill>
                  <a:srgbClr val="1E2933"/>
                </a:solidFill>
                <a:latin typeface="Liberation Sans" pitchFamily="34" charset="0"/>
                <a:ea typeface="Liberation Sans" pitchFamily="34" charset="-122"/>
                <a:cs typeface="Liberation Sans" pitchFamily="34" charset="-120"/>
              </a:rPr>
              <a:t>[2] R. Sommer and V. Paxson, "Outside the Closed World: On Using Machine Learning for Network Intrusion Detection," IEEE S&amp;P, 2010.</a:t>
            </a:r>
            <a:endParaRPr lang="en-US" sz="695" dirty="0"/>
          </a:p>
          <a:p>
            <a:pPr algn="l" indent="0" marL="0">
              <a:lnSpc>
                <a:spcPct val="92000"/>
              </a:lnSpc>
              <a:buNone/>
            </a:pPr>
            <a:r>
              <a:rPr lang="en-US" sz="695" dirty="0">
                <a:solidFill>
                  <a:srgbClr val="1E2933"/>
                </a:solidFill>
                <a:latin typeface="Liberation Sans" pitchFamily="34" charset="0"/>
                <a:ea typeface="Liberation Sans" pitchFamily="34" charset="-122"/>
                <a:cs typeface="Liberation Sans" pitchFamily="34" charset="-120"/>
              </a:rPr>
              <a:t>[3] V. Chandola et al., "Anomaly Detection: A Survey," ACM Computing Surveys, 41(3), 2009.</a:t>
            </a:r>
            <a:endParaRPr lang="en-US" sz="695" dirty="0"/>
          </a:p>
          <a:p>
            <a:pPr algn="l" indent="0" marL="0">
              <a:lnSpc>
                <a:spcPct val="92000"/>
              </a:lnSpc>
              <a:buNone/>
            </a:pPr>
            <a:r>
              <a:rPr lang="en-US" sz="695" dirty="0">
                <a:solidFill>
                  <a:srgbClr val="1E2933"/>
                </a:solidFill>
                <a:latin typeface="Liberation Sans" pitchFamily="34" charset="0"/>
                <a:ea typeface="Liberation Sans" pitchFamily="34" charset="-122"/>
                <a:cs typeface="Liberation Sans" pitchFamily="34" charset="-120"/>
              </a:rPr>
              <a:t>[4] MITRE ATT&amp;CK, T1078 and T1021.</a:t>
            </a:r>
            <a:endParaRPr lang="en-US" sz="695" dirty="0"/>
          </a:p>
          <a:p>
            <a:pPr algn="l" indent="0" marL="0">
              <a:lnSpc>
                <a:spcPct val="92000"/>
              </a:lnSpc>
              <a:buNone/>
            </a:pPr>
            <a:r>
              <a:rPr lang="en-US" sz="695" dirty="0">
                <a:solidFill>
                  <a:srgbClr val="1E2933"/>
                </a:solidFill>
                <a:latin typeface="Liberation Sans" pitchFamily="34" charset="0"/>
                <a:ea typeface="Liberation Sans" pitchFamily="34" charset="-122"/>
                <a:cs typeface="Liberation Sans" pitchFamily="34" charset="-120"/>
              </a:rPr>
              <a:t>[5] A. D. Kent, "Comprehensive, Multi-Source Cyber-Security Events," LANL, 2015.</a:t>
            </a:r>
            <a:endParaRPr lang="en-US" sz="695" dirty="0"/>
          </a:p>
          <a:p>
            <a:pPr algn="l" indent="0" marL="0">
              <a:lnSpc>
                <a:spcPct val="92000"/>
              </a:lnSpc>
              <a:buNone/>
            </a:pPr>
            <a:r>
              <a:rPr lang="en-US" sz="695" dirty="0">
                <a:solidFill>
                  <a:srgbClr val="1E2933"/>
                </a:solidFill>
                <a:latin typeface="Liberation Sans" pitchFamily="34" charset="0"/>
                <a:ea typeface="Liberation Sans" pitchFamily="34" charset="-122"/>
                <a:cs typeface="Liberation Sans" pitchFamily="34" charset="-120"/>
              </a:rPr>
              <a:t>[6] D. Peng, "Synthetic Enterprise Authentication Logs," Kaggle, 2026.</a:t>
            </a:r>
            <a:endParaRPr lang="en-US" sz="695" dirty="0"/>
          </a:p>
        </p:txBody>
      </p:sp>
      <p:sp>
        <p:nvSpPr>
          <p:cNvPr id="207" name="Text 178"/>
          <p:cNvSpPr/>
          <p:nvPr/>
        </p:nvSpPr>
        <p:spPr>
          <a:xfrm>
            <a:off x="4343400" y="25392888"/>
            <a:ext cx="5029200" cy="137160"/>
          </a:xfrm>
          <a:prstGeom prst="rect">
            <a:avLst/>
          </a:prstGeom>
          <a:noFill/>
          <a:ln/>
        </p:spPr>
        <p:txBody>
          <a:bodyPr wrap="square" lIns="0" tIns="0" rIns="0" bIns="0" rtlCol="0" anchor="ctr"/>
          <a:lstStyle/>
          <a:p>
            <a:pPr algn="ctr" indent="0" marL="0">
              <a:buNone/>
            </a:pPr>
            <a:r>
              <a:rPr lang="en-US" sz="630" dirty="0">
                <a:solidFill>
                  <a:srgbClr val="D7E2EF"/>
                </a:solidFill>
              </a:rPr>
              <a:t>Public dataset: danielpeng1995/synthetic-enterprise-auth-logs</a:t>
            </a:r>
            <a:endParaRPr lang="en-US" sz="63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Liberation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Liberation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New York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Detecting Post-Compromise Lateral Movement Using Authentication Logs</dc:title>
  <dc:subject>Graph-based lateral movement detection poster</dc:subject>
  <dc:creator>Daniel Peng</dc:creator>
  <cp:lastModifiedBy>Daniel Peng</cp:lastModifiedBy>
  <cp:revision>1</cp:revision>
  <dcterms:created xsi:type="dcterms:W3CDTF">2026-07-15T18:28:14Z</dcterms:created>
  <dcterms:modified xsi:type="dcterms:W3CDTF">2026-07-15T18:28:14Z</dcterms:modified>
</cp:coreProperties>
</file>